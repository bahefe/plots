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3" r:id="rId3"/>
    <p:sldId id="261" r:id="rId4"/>
    <p:sldId id="269" r:id="rId5"/>
    <p:sldId id="270" r:id="rId6"/>
    <p:sldId id="272" r:id="rId7"/>
    <p:sldId id="262" r:id="rId8"/>
    <p:sldId id="268" r:id="rId9"/>
    <p:sldId id="274" r:id="rId10"/>
    <p:sldId id="263" r:id="rId11"/>
    <p:sldId id="264" r:id="rId12"/>
    <p:sldId id="271" r:id="rId13"/>
    <p:sldId id="267" r:id="rId14"/>
    <p:sldId id="257" r:id="rId15"/>
    <p:sldId id="258" r:id="rId16"/>
    <p:sldId id="259" r:id="rId17"/>
    <p:sldId id="260" r:id="rId18"/>
    <p:sldId id="265" r:id="rId19"/>
    <p:sldId id="266" r:id="rId20"/>
  </p:sldIdLst>
  <p:sldSz cx="12192000" cy="6858000"/>
  <p:notesSz cx="6858000" cy="9144000"/>
  <p:defaultText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2"/>
    <p:restoredTop sz="94661"/>
  </p:normalViewPr>
  <p:slideViewPr>
    <p:cSldViewPr snapToGrid="0">
      <p:cViewPr varScale="1">
        <p:scale>
          <a:sx n="114" d="100"/>
          <a:sy n="114" d="100"/>
        </p:scale>
        <p:origin x="376"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E4D1A3-42EE-7C92-9CFF-B3D3A9E61DE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TR"/>
          </a:p>
        </p:txBody>
      </p:sp>
      <p:sp>
        <p:nvSpPr>
          <p:cNvPr id="3" name="Subtitle 2">
            <a:extLst>
              <a:ext uri="{FF2B5EF4-FFF2-40B4-BE49-F238E27FC236}">
                <a16:creationId xmlns:a16="http://schemas.microsoft.com/office/drawing/2014/main" id="{B755009D-623A-77AE-2F91-5785459F318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TR"/>
          </a:p>
        </p:txBody>
      </p:sp>
      <p:sp>
        <p:nvSpPr>
          <p:cNvPr id="4" name="Date Placeholder 3">
            <a:extLst>
              <a:ext uri="{FF2B5EF4-FFF2-40B4-BE49-F238E27FC236}">
                <a16:creationId xmlns:a16="http://schemas.microsoft.com/office/drawing/2014/main" id="{C2532963-EA7C-C1CB-CCDF-2392D3FA1668}"/>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5" name="Footer Placeholder 4">
            <a:extLst>
              <a:ext uri="{FF2B5EF4-FFF2-40B4-BE49-F238E27FC236}">
                <a16:creationId xmlns:a16="http://schemas.microsoft.com/office/drawing/2014/main" id="{75E2EC32-42A9-1388-C54A-C2E6C72D09BD}"/>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81B4639F-6B87-A33E-66AE-962AC8FF2A34}"/>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1230495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D5D0E-BF87-7200-7B80-ABFA909DC582}"/>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5F0A2CCE-28CB-9A3F-AE3E-1D53EFB2C3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D7AF1793-6143-9FC9-277B-3F8626F3E7C1}"/>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5" name="Footer Placeholder 4">
            <a:extLst>
              <a:ext uri="{FF2B5EF4-FFF2-40B4-BE49-F238E27FC236}">
                <a16:creationId xmlns:a16="http://schemas.microsoft.com/office/drawing/2014/main" id="{AA7525E3-7A0B-92E0-6B03-9DFE2DEB3C76}"/>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1C101D41-40D0-70F3-3035-7D4461DF9642}"/>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316342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6F85F-23AC-4130-F70B-500515FC92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TR"/>
          </a:p>
        </p:txBody>
      </p:sp>
      <p:sp>
        <p:nvSpPr>
          <p:cNvPr id="3" name="Text Placeholder 2">
            <a:extLst>
              <a:ext uri="{FF2B5EF4-FFF2-40B4-BE49-F238E27FC236}">
                <a16:creationId xmlns:a16="http://schemas.microsoft.com/office/drawing/2014/main" id="{3DCDB37F-DBEC-8229-54DB-82EBA9E9796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7E1EF1F-4004-0725-D30B-B09E486B5F88}"/>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5" name="Footer Placeholder 4">
            <a:extLst>
              <a:ext uri="{FF2B5EF4-FFF2-40B4-BE49-F238E27FC236}">
                <a16:creationId xmlns:a16="http://schemas.microsoft.com/office/drawing/2014/main" id="{B4DEAB15-B5DD-C19F-570A-E8744150F4A9}"/>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6C9F18EE-CE65-9CE2-183D-815F47AA22E2}"/>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5080247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36F98-70B9-48FD-9905-4B467C506D2F}"/>
              </a:ext>
            </a:extLst>
          </p:cNvPr>
          <p:cNvSpPr>
            <a:spLocks noGrp="1"/>
          </p:cNvSpPr>
          <p:nvPr>
            <p:ph type="title"/>
          </p:nvPr>
        </p:nvSpPr>
        <p:spPr/>
        <p:txBody>
          <a:bodyPr/>
          <a:lstStyle/>
          <a:p>
            <a:r>
              <a:rPr lang="en-US"/>
              <a:t>Click to edit Master title style</a:t>
            </a:r>
            <a:endParaRPr lang="en-TR"/>
          </a:p>
        </p:txBody>
      </p:sp>
      <p:sp>
        <p:nvSpPr>
          <p:cNvPr id="3" name="Content Placeholder 2">
            <a:extLst>
              <a:ext uri="{FF2B5EF4-FFF2-40B4-BE49-F238E27FC236}">
                <a16:creationId xmlns:a16="http://schemas.microsoft.com/office/drawing/2014/main" id="{CCF8D5C7-DECC-72A6-DC52-0497059473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Content Placeholder 3">
            <a:extLst>
              <a:ext uri="{FF2B5EF4-FFF2-40B4-BE49-F238E27FC236}">
                <a16:creationId xmlns:a16="http://schemas.microsoft.com/office/drawing/2014/main" id="{4149BCF0-0DBC-64C0-5F77-93DBDDD0D3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Date Placeholder 4">
            <a:extLst>
              <a:ext uri="{FF2B5EF4-FFF2-40B4-BE49-F238E27FC236}">
                <a16:creationId xmlns:a16="http://schemas.microsoft.com/office/drawing/2014/main" id="{1F66C51C-8878-9FB8-F75D-B73747DBC95F}"/>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6" name="Footer Placeholder 5">
            <a:extLst>
              <a:ext uri="{FF2B5EF4-FFF2-40B4-BE49-F238E27FC236}">
                <a16:creationId xmlns:a16="http://schemas.microsoft.com/office/drawing/2014/main" id="{048AD49F-0AF2-EC0F-0D6A-49CA5AF71D79}"/>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01AF5986-2773-E06A-361A-5D51F0AA95E0}"/>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39568131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BBA91-C3E2-543B-6274-D14C5FA28839}"/>
              </a:ext>
            </a:extLst>
          </p:cNvPr>
          <p:cNvSpPr>
            <a:spLocks noGrp="1"/>
          </p:cNvSpPr>
          <p:nvPr>
            <p:ph type="title"/>
          </p:nvPr>
        </p:nvSpPr>
        <p:spPr>
          <a:xfrm>
            <a:off x="839788" y="365125"/>
            <a:ext cx="10515600" cy="1325563"/>
          </a:xfrm>
        </p:spPr>
        <p:txBody>
          <a:bodyPr/>
          <a:lstStyle/>
          <a:p>
            <a:r>
              <a:rPr lang="en-US"/>
              <a:t>Click to edit Master title style</a:t>
            </a:r>
            <a:endParaRPr lang="en-TR"/>
          </a:p>
        </p:txBody>
      </p:sp>
      <p:sp>
        <p:nvSpPr>
          <p:cNvPr id="3" name="Text Placeholder 2">
            <a:extLst>
              <a:ext uri="{FF2B5EF4-FFF2-40B4-BE49-F238E27FC236}">
                <a16:creationId xmlns:a16="http://schemas.microsoft.com/office/drawing/2014/main" id="{0E07DC84-2E1F-5520-CB8C-D68DD5C29C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3C6998-C93B-60A6-3541-F3C8892341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5" name="Text Placeholder 4">
            <a:extLst>
              <a:ext uri="{FF2B5EF4-FFF2-40B4-BE49-F238E27FC236}">
                <a16:creationId xmlns:a16="http://schemas.microsoft.com/office/drawing/2014/main" id="{9C87E516-C508-B347-69A6-D2E3AE7BED5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85386F7-BA2A-8073-6F21-C9759CBD571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7" name="Date Placeholder 6">
            <a:extLst>
              <a:ext uri="{FF2B5EF4-FFF2-40B4-BE49-F238E27FC236}">
                <a16:creationId xmlns:a16="http://schemas.microsoft.com/office/drawing/2014/main" id="{21C693A3-1FA0-F7B3-1CD8-490E45D94DD4}"/>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8" name="Footer Placeholder 7">
            <a:extLst>
              <a:ext uri="{FF2B5EF4-FFF2-40B4-BE49-F238E27FC236}">
                <a16:creationId xmlns:a16="http://schemas.microsoft.com/office/drawing/2014/main" id="{8E4E432E-8457-62F8-3BB8-0162EC17AD7B}"/>
              </a:ext>
            </a:extLst>
          </p:cNvPr>
          <p:cNvSpPr>
            <a:spLocks noGrp="1"/>
          </p:cNvSpPr>
          <p:nvPr>
            <p:ph type="ftr" sz="quarter" idx="11"/>
          </p:nvPr>
        </p:nvSpPr>
        <p:spPr/>
        <p:txBody>
          <a:bodyPr/>
          <a:lstStyle/>
          <a:p>
            <a:endParaRPr lang="en-TR"/>
          </a:p>
        </p:txBody>
      </p:sp>
      <p:sp>
        <p:nvSpPr>
          <p:cNvPr id="9" name="Slide Number Placeholder 8">
            <a:extLst>
              <a:ext uri="{FF2B5EF4-FFF2-40B4-BE49-F238E27FC236}">
                <a16:creationId xmlns:a16="http://schemas.microsoft.com/office/drawing/2014/main" id="{07245FE3-5CBF-689D-16A0-2E8C460C19DC}"/>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37719563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876B5-5F42-8707-53EF-B87EE07ED810}"/>
              </a:ext>
            </a:extLst>
          </p:cNvPr>
          <p:cNvSpPr>
            <a:spLocks noGrp="1"/>
          </p:cNvSpPr>
          <p:nvPr>
            <p:ph type="title"/>
          </p:nvPr>
        </p:nvSpPr>
        <p:spPr/>
        <p:txBody>
          <a:bodyPr/>
          <a:lstStyle/>
          <a:p>
            <a:r>
              <a:rPr lang="en-US"/>
              <a:t>Click to edit Master title style</a:t>
            </a:r>
            <a:endParaRPr lang="en-TR"/>
          </a:p>
        </p:txBody>
      </p:sp>
      <p:sp>
        <p:nvSpPr>
          <p:cNvPr id="3" name="Date Placeholder 2">
            <a:extLst>
              <a:ext uri="{FF2B5EF4-FFF2-40B4-BE49-F238E27FC236}">
                <a16:creationId xmlns:a16="http://schemas.microsoft.com/office/drawing/2014/main" id="{962755CF-FAFE-DBC0-92FE-402AF1F7CEA6}"/>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4" name="Footer Placeholder 3">
            <a:extLst>
              <a:ext uri="{FF2B5EF4-FFF2-40B4-BE49-F238E27FC236}">
                <a16:creationId xmlns:a16="http://schemas.microsoft.com/office/drawing/2014/main" id="{9BBA3407-CF0E-1030-0A29-055D76C01155}"/>
              </a:ext>
            </a:extLst>
          </p:cNvPr>
          <p:cNvSpPr>
            <a:spLocks noGrp="1"/>
          </p:cNvSpPr>
          <p:nvPr>
            <p:ph type="ftr" sz="quarter" idx="11"/>
          </p:nvPr>
        </p:nvSpPr>
        <p:spPr/>
        <p:txBody>
          <a:bodyPr/>
          <a:lstStyle/>
          <a:p>
            <a:endParaRPr lang="en-TR"/>
          </a:p>
        </p:txBody>
      </p:sp>
      <p:sp>
        <p:nvSpPr>
          <p:cNvPr id="5" name="Slide Number Placeholder 4">
            <a:extLst>
              <a:ext uri="{FF2B5EF4-FFF2-40B4-BE49-F238E27FC236}">
                <a16:creationId xmlns:a16="http://schemas.microsoft.com/office/drawing/2014/main" id="{03097354-C075-9D23-F56E-712A780DFE23}"/>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20852588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A4E12C-EA80-A0C6-9E1D-ED1A6615DDD9}"/>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3" name="Footer Placeholder 2">
            <a:extLst>
              <a:ext uri="{FF2B5EF4-FFF2-40B4-BE49-F238E27FC236}">
                <a16:creationId xmlns:a16="http://schemas.microsoft.com/office/drawing/2014/main" id="{F43F7354-2DD9-CF29-7AB6-BC036E5FB213}"/>
              </a:ext>
            </a:extLst>
          </p:cNvPr>
          <p:cNvSpPr>
            <a:spLocks noGrp="1"/>
          </p:cNvSpPr>
          <p:nvPr>
            <p:ph type="ftr" sz="quarter" idx="11"/>
          </p:nvPr>
        </p:nvSpPr>
        <p:spPr/>
        <p:txBody>
          <a:bodyPr/>
          <a:lstStyle/>
          <a:p>
            <a:endParaRPr lang="en-TR"/>
          </a:p>
        </p:txBody>
      </p:sp>
      <p:sp>
        <p:nvSpPr>
          <p:cNvPr id="4" name="Slide Number Placeholder 3">
            <a:extLst>
              <a:ext uri="{FF2B5EF4-FFF2-40B4-BE49-F238E27FC236}">
                <a16:creationId xmlns:a16="http://schemas.microsoft.com/office/drawing/2014/main" id="{FF7F50BD-9EE8-01C6-C89F-359C6562CAC0}"/>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2140481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614F8-78D0-CFF6-EED1-CE02649607C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Content Placeholder 2">
            <a:extLst>
              <a:ext uri="{FF2B5EF4-FFF2-40B4-BE49-F238E27FC236}">
                <a16:creationId xmlns:a16="http://schemas.microsoft.com/office/drawing/2014/main" id="{628DD74E-710E-9CB6-6B77-3F539BFE7F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Text Placeholder 3">
            <a:extLst>
              <a:ext uri="{FF2B5EF4-FFF2-40B4-BE49-F238E27FC236}">
                <a16:creationId xmlns:a16="http://schemas.microsoft.com/office/drawing/2014/main" id="{FB0A2F7E-EB7A-FED1-74AD-E79AD6B0D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44D9271-5901-E9A9-7B80-DE6F4E4D0071}"/>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6" name="Footer Placeholder 5">
            <a:extLst>
              <a:ext uri="{FF2B5EF4-FFF2-40B4-BE49-F238E27FC236}">
                <a16:creationId xmlns:a16="http://schemas.microsoft.com/office/drawing/2014/main" id="{4D55E7A5-5EC0-EDC0-2733-A0C68C96F917}"/>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2F482D03-8F44-848B-DE27-490E4D058A2B}"/>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302659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0E13F-3E2E-A9BB-F579-1228C93EB2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TR"/>
          </a:p>
        </p:txBody>
      </p:sp>
      <p:sp>
        <p:nvSpPr>
          <p:cNvPr id="3" name="Picture Placeholder 2">
            <a:extLst>
              <a:ext uri="{FF2B5EF4-FFF2-40B4-BE49-F238E27FC236}">
                <a16:creationId xmlns:a16="http://schemas.microsoft.com/office/drawing/2014/main" id="{D0DDD6A2-0F37-F004-D250-4B29461A7D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TR"/>
          </a:p>
        </p:txBody>
      </p:sp>
      <p:sp>
        <p:nvSpPr>
          <p:cNvPr id="4" name="Text Placeholder 3">
            <a:extLst>
              <a:ext uri="{FF2B5EF4-FFF2-40B4-BE49-F238E27FC236}">
                <a16:creationId xmlns:a16="http://schemas.microsoft.com/office/drawing/2014/main" id="{8518BCE7-0767-F72B-3B73-E4EEBCC51A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72E0EC-FD3F-AEB1-D770-D325168C5FFE}"/>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6" name="Footer Placeholder 5">
            <a:extLst>
              <a:ext uri="{FF2B5EF4-FFF2-40B4-BE49-F238E27FC236}">
                <a16:creationId xmlns:a16="http://schemas.microsoft.com/office/drawing/2014/main" id="{C759496E-5E9F-6AE3-D29A-51563E4D6500}"/>
              </a:ext>
            </a:extLst>
          </p:cNvPr>
          <p:cNvSpPr>
            <a:spLocks noGrp="1"/>
          </p:cNvSpPr>
          <p:nvPr>
            <p:ph type="ftr" sz="quarter" idx="11"/>
          </p:nvPr>
        </p:nvSpPr>
        <p:spPr/>
        <p:txBody>
          <a:bodyPr/>
          <a:lstStyle/>
          <a:p>
            <a:endParaRPr lang="en-TR"/>
          </a:p>
        </p:txBody>
      </p:sp>
      <p:sp>
        <p:nvSpPr>
          <p:cNvPr id="7" name="Slide Number Placeholder 6">
            <a:extLst>
              <a:ext uri="{FF2B5EF4-FFF2-40B4-BE49-F238E27FC236}">
                <a16:creationId xmlns:a16="http://schemas.microsoft.com/office/drawing/2014/main" id="{8C96A1C8-B7A1-0649-8E4F-FE25C0997776}"/>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4481656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9009C-5A21-A40D-70BF-8478A8A189CC}"/>
              </a:ext>
            </a:extLst>
          </p:cNvPr>
          <p:cNvSpPr>
            <a:spLocks noGrp="1"/>
          </p:cNvSpPr>
          <p:nvPr>
            <p:ph type="title"/>
          </p:nvPr>
        </p:nvSpPr>
        <p:spPr/>
        <p:txBody>
          <a:bodyPr/>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CC7D9759-9FF2-7415-3628-4AC4CF9E4D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D51C0D37-E70F-715B-0B39-C34B90A2CEA3}"/>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5" name="Footer Placeholder 4">
            <a:extLst>
              <a:ext uri="{FF2B5EF4-FFF2-40B4-BE49-F238E27FC236}">
                <a16:creationId xmlns:a16="http://schemas.microsoft.com/office/drawing/2014/main" id="{B8B5E179-C913-90E0-0A34-EF0303F835E2}"/>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E91944EB-1BA3-F5C5-082E-AA1E0765251E}"/>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11576285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EA88B9-0D80-9C16-2102-9FA956A931C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TR"/>
          </a:p>
        </p:txBody>
      </p:sp>
      <p:sp>
        <p:nvSpPr>
          <p:cNvPr id="3" name="Vertical Text Placeholder 2">
            <a:extLst>
              <a:ext uri="{FF2B5EF4-FFF2-40B4-BE49-F238E27FC236}">
                <a16:creationId xmlns:a16="http://schemas.microsoft.com/office/drawing/2014/main" id="{4B150893-A401-D139-2C9A-076793BE40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ACCAF53E-425D-0678-7EAC-8CD78837EA58}"/>
              </a:ext>
            </a:extLst>
          </p:cNvPr>
          <p:cNvSpPr>
            <a:spLocks noGrp="1"/>
          </p:cNvSpPr>
          <p:nvPr>
            <p:ph type="dt" sz="half" idx="10"/>
          </p:nvPr>
        </p:nvSpPr>
        <p:spPr/>
        <p:txBody>
          <a:bodyPr/>
          <a:lstStyle/>
          <a:p>
            <a:fld id="{94AD50D3-D76B-E84F-9AF6-75CD472F5740}" type="datetimeFigureOut">
              <a:rPr lang="en-TR" smtClean="0"/>
              <a:t>29.11.2025</a:t>
            </a:fld>
            <a:endParaRPr lang="en-TR"/>
          </a:p>
        </p:txBody>
      </p:sp>
      <p:sp>
        <p:nvSpPr>
          <p:cNvPr id="5" name="Footer Placeholder 4">
            <a:extLst>
              <a:ext uri="{FF2B5EF4-FFF2-40B4-BE49-F238E27FC236}">
                <a16:creationId xmlns:a16="http://schemas.microsoft.com/office/drawing/2014/main" id="{7C0B5DD9-DE35-7E60-6873-2B806036B9C0}"/>
              </a:ext>
            </a:extLst>
          </p:cNvPr>
          <p:cNvSpPr>
            <a:spLocks noGrp="1"/>
          </p:cNvSpPr>
          <p:nvPr>
            <p:ph type="ftr" sz="quarter" idx="11"/>
          </p:nvPr>
        </p:nvSpPr>
        <p:spPr/>
        <p:txBody>
          <a:bodyPr/>
          <a:lstStyle/>
          <a:p>
            <a:endParaRPr lang="en-TR"/>
          </a:p>
        </p:txBody>
      </p:sp>
      <p:sp>
        <p:nvSpPr>
          <p:cNvPr id="6" name="Slide Number Placeholder 5">
            <a:extLst>
              <a:ext uri="{FF2B5EF4-FFF2-40B4-BE49-F238E27FC236}">
                <a16:creationId xmlns:a16="http://schemas.microsoft.com/office/drawing/2014/main" id="{C06936CA-E994-FA97-F53F-ACA1210B59D9}"/>
              </a:ext>
            </a:extLst>
          </p:cNvPr>
          <p:cNvSpPr>
            <a:spLocks noGrp="1"/>
          </p:cNvSpPr>
          <p:nvPr>
            <p:ph type="sldNum" sz="quarter" idx="12"/>
          </p:nvPr>
        </p:nvSpPr>
        <p:spPr/>
        <p:txBody>
          <a:bodyPr/>
          <a:lstStyle/>
          <a:p>
            <a:fld id="{E3059898-5877-684C-8FD3-D29E0C207CC9}" type="slidenum">
              <a:rPr lang="en-TR" smtClean="0"/>
              <a:t>‹#›</a:t>
            </a:fld>
            <a:endParaRPr lang="en-TR"/>
          </a:p>
        </p:txBody>
      </p:sp>
    </p:spTree>
    <p:extLst>
      <p:ext uri="{BB962C8B-B14F-4D97-AF65-F5344CB8AC3E}">
        <p14:creationId xmlns:p14="http://schemas.microsoft.com/office/powerpoint/2010/main" val="3873572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A4AE1F-CCB0-891A-509E-9F25F078A4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TR"/>
          </a:p>
        </p:txBody>
      </p:sp>
      <p:sp>
        <p:nvSpPr>
          <p:cNvPr id="3" name="Text Placeholder 2">
            <a:extLst>
              <a:ext uri="{FF2B5EF4-FFF2-40B4-BE49-F238E27FC236}">
                <a16:creationId xmlns:a16="http://schemas.microsoft.com/office/drawing/2014/main" id="{4C9CC650-A02E-0C6F-BD42-D4E5DCE4DF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TR"/>
          </a:p>
        </p:txBody>
      </p:sp>
      <p:sp>
        <p:nvSpPr>
          <p:cNvPr id="4" name="Date Placeholder 3">
            <a:extLst>
              <a:ext uri="{FF2B5EF4-FFF2-40B4-BE49-F238E27FC236}">
                <a16:creationId xmlns:a16="http://schemas.microsoft.com/office/drawing/2014/main" id="{5D116BF7-6B7E-C7AC-7B77-218743C052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4AD50D3-D76B-E84F-9AF6-75CD472F5740}" type="datetimeFigureOut">
              <a:rPr lang="en-TR" smtClean="0"/>
              <a:t>29.11.2025</a:t>
            </a:fld>
            <a:endParaRPr lang="en-TR"/>
          </a:p>
        </p:txBody>
      </p:sp>
      <p:sp>
        <p:nvSpPr>
          <p:cNvPr id="5" name="Footer Placeholder 4">
            <a:extLst>
              <a:ext uri="{FF2B5EF4-FFF2-40B4-BE49-F238E27FC236}">
                <a16:creationId xmlns:a16="http://schemas.microsoft.com/office/drawing/2014/main" id="{C8011A32-D5D2-D04C-E963-2429CA6B97D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TR"/>
          </a:p>
        </p:txBody>
      </p:sp>
      <p:sp>
        <p:nvSpPr>
          <p:cNvPr id="6" name="Slide Number Placeholder 5">
            <a:extLst>
              <a:ext uri="{FF2B5EF4-FFF2-40B4-BE49-F238E27FC236}">
                <a16:creationId xmlns:a16="http://schemas.microsoft.com/office/drawing/2014/main" id="{AE24E832-1A03-095D-9088-6AA7B8012B7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3059898-5877-684C-8FD3-D29E0C207CC9}" type="slidenum">
              <a:rPr lang="en-TR" smtClean="0"/>
              <a:t>‹#›</a:t>
            </a:fld>
            <a:endParaRPr lang="en-TR"/>
          </a:p>
        </p:txBody>
      </p:sp>
    </p:spTree>
    <p:extLst>
      <p:ext uri="{BB962C8B-B14F-4D97-AF65-F5344CB8AC3E}">
        <p14:creationId xmlns:p14="http://schemas.microsoft.com/office/powerpoint/2010/main" val="42889849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transformer-circuits.pub/2021/framework/index.html#def-privileged-basi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3FA44-ADDC-8375-2385-BED47D3406F6}"/>
              </a:ext>
            </a:extLst>
          </p:cNvPr>
          <p:cNvSpPr>
            <a:spLocks noGrp="1"/>
          </p:cNvSpPr>
          <p:nvPr>
            <p:ph type="ctrTitle"/>
          </p:nvPr>
        </p:nvSpPr>
        <p:spPr/>
        <p:txBody>
          <a:bodyPr/>
          <a:lstStyle/>
          <a:p>
            <a:r>
              <a:rPr lang="en-TR" dirty="0"/>
              <a:t>Mechanistic Interpretability</a:t>
            </a:r>
          </a:p>
        </p:txBody>
      </p:sp>
      <p:sp>
        <p:nvSpPr>
          <p:cNvPr id="3" name="Subtitle 2">
            <a:extLst>
              <a:ext uri="{FF2B5EF4-FFF2-40B4-BE49-F238E27FC236}">
                <a16:creationId xmlns:a16="http://schemas.microsoft.com/office/drawing/2014/main" id="{447664A6-F6CC-5F4F-2020-1FAF68234039}"/>
              </a:ext>
            </a:extLst>
          </p:cNvPr>
          <p:cNvSpPr>
            <a:spLocks noGrp="1"/>
          </p:cNvSpPr>
          <p:nvPr>
            <p:ph type="subTitle" idx="1"/>
          </p:nvPr>
        </p:nvSpPr>
        <p:spPr/>
        <p:txBody>
          <a:bodyPr/>
          <a:lstStyle/>
          <a:p>
            <a:endParaRPr lang="en-TR" dirty="0"/>
          </a:p>
        </p:txBody>
      </p:sp>
    </p:spTree>
    <p:extLst>
      <p:ext uri="{BB962C8B-B14F-4D97-AF65-F5344CB8AC3E}">
        <p14:creationId xmlns:p14="http://schemas.microsoft.com/office/powerpoint/2010/main" val="37953481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82B34-8813-9DDB-7D69-B68329D562A0}"/>
              </a:ext>
            </a:extLst>
          </p:cNvPr>
          <p:cNvSpPr>
            <a:spLocks noGrp="1"/>
          </p:cNvSpPr>
          <p:nvPr>
            <p:ph type="title"/>
          </p:nvPr>
        </p:nvSpPr>
        <p:spPr/>
        <p:txBody>
          <a:bodyPr/>
          <a:lstStyle/>
          <a:p>
            <a:r>
              <a:rPr lang="en-TR" dirty="0"/>
              <a:t>Motivation </a:t>
            </a:r>
          </a:p>
        </p:txBody>
      </p:sp>
      <p:sp>
        <p:nvSpPr>
          <p:cNvPr id="3" name="Content Placeholder 2">
            <a:extLst>
              <a:ext uri="{FF2B5EF4-FFF2-40B4-BE49-F238E27FC236}">
                <a16:creationId xmlns:a16="http://schemas.microsoft.com/office/drawing/2014/main" id="{C36E6995-FE53-82B0-21D9-77ED47448598}"/>
              </a:ext>
            </a:extLst>
          </p:cNvPr>
          <p:cNvSpPr>
            <a:spLocks noGrp="1"/>
          </p:cNvSpPr>
          <p:nvPr>
            <p:ph idx="1"/>
          </p:nvPr>
        </p:nvSpPr>
        <p:spPr/>
        <p:txBody>
          <a:bodyPr/>
          <a:lstStyle/>
          <a:p>
            <a:r>
              <a:rPr lang="en-TR" dirty="0"/>
              <a:t>Model explainabiltiy vs performance trade off</a:t>
            </a:r>
          </a:p>
        </p:txBody>
      </p:sp>
    </p:spTree>
    <p:extLst>
      <p:ext uri="{BB962C8B-B14F-4D97-AF65-F5344CB8AC3E}">
        <p14:creationId xmlns:p14="http://schemas.microsoft.com/office/powerpoint/2010/main" val="30002074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13DC3-0C22-A24C-C9B7-FBB08CD1246C}"/>
              </a:ext>
            </a:extLst>
          </p:cNvPr>
          <p:cNvSpPr>
            <a:spLocks noGrp="1"/>
          </p:cNvSpPr>
          <p:nvPr>
            <p:ph type="title"/>
          </p:nvPr>
        </p:nvSpPr>
        <p:spPr/>
        <p:txBody>
          <a:bodyPr/>
          <a:lstStyle/>
          <a:p>
            <a:r>
              <a:rPr lang="en-TR" dirty="0"/>
              <a:t>Table of Contents</a:t>
            </a:r>
          </a:p>
        </p:txBody>
      </p:sp>
      <p:sp>
        <p:nvSpPr>
          <p:cNvPr id="3" name="Content Placeholder 2">
            <a:extLst>
              <a:ext uri="{FF2B5EF4-FFF2-40B4-BE49-F238E27FC236}">
                <a16:creationId xmlns:a16="http://schemas.microsoft.com/office/drawing/2014/main" id="{B0328A46-E5C8-9A7C-C7FA-07F639281558}"/>
              </a:ext>
            </a:extLst>
          </p:cNvPr>
          <p:cNvSpPr>
            <a:spLocks noGrp="1"/>
          </p:cNvSpPr>
          <p:nvPr>
            <p:ph idx="1"/>
          </p:nvPr>
        </p:nvSpPr>
        <p:spPr/>
        <p:txBody>
          <a:bodyPr/>
          <a:lstStyle/>
          <a:p>
            <a:r>
              <a:rPr lang="en-TR" dirty="0"/>
              <a:t>AI Explainability (Diagram the context)</a:t>
            </a:r>
          </a:p>
          <a:p>
            <a:r>
              <a:rPr lang="en-TR" dirty="0"/>
              <a:t>Mathematical Framework for Transformers</a:t>
            </a:r>
          </a:p>
          <a:p>
            <a:r>
              <a:rPr lang="en-TR" dirty="0"/>
              <a:t>Mechanistic Interpretability Toy Example</a:t>
            </a:r>
          </a:p>
          <a:p>
            <a:endParaRPr lang="en-TR" dirty="0"/>
          </a:p>
          <a:p>
            <a:r>
              <a:rPr lang="en-TR" dirty="0"/>
              <a:t>Neural Beta</a:t>
            </a:r>
          </a:p>
          <a:p>
            <a:r>
              <a:rPr lang="en-TR" dirty="0"/>
              <a:t>Autofromer</a:t>
            </a:r>
          </a:p>
          <a:p>
            <a:r>
              <a:rPr lang="en-TR" dirty="0"/>
              <a:t>CKA</a:t>
            </a:r>
          </a:p>
          <a:p>
            <a:r>
              <a:rPr lang="en-TR" dirty="0"/>
              <a:t>Concept Bottlenecks</a:t>
            </a:r>
          </a:p>
        </p:txBody>
      </p:sp>
    </p:spTree>
    <p:extLst>
      <p:ext uri="{BB962C8B-B14F-4D97-AF65-F5344CB8AC3E}">
        <p14:creationId xmlns:p14="http://schemas.microsoft.com/office/powerpoint/2010/main" val="16052344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46CC2-F1AE-6A09-D9FC-983B6A2209EF}"/>
              </a:ext>
            </a:extLst>
          </p:cNvPr>
          <p:cNvSpPr>
            <a:spLocks noGrp="1"/>
          </p:cNvSpPr>
          <p:nvPr>
            <p:ph type="title"/>
          </p:nvPr>
        </p:nvSpPr>
        <p:spPr/>
        <p:txBody>
          <a:bodyPr/>
          <a:lstStyle/>
          <a:p>
            <a:r>
              <a:rPr lang="en-TR" dirty="0"/>
              <a:t>XAI</a:t>
            </a:r>
          </a:p>
        </p:txBody>
      </p:sp>
      <p:sp>
        <p:nvSpPr>
          <p:cNvPr id="3" name="Content Placeholder 2">
            <a:extLst>
              <a:ext uri="{FF2B5EF4-FFF2-40B4-BE49-F238E27FC236}">
                <a16:creationId xmlns:a16="http://schemas.microsoft.com/office/drawing/2014/main" id="{0DA67C8A-AB9C-3BEC-E5A3-BCA69FEAFEA5}"/>
              </a:ext>
            </a:extLst>
          </p:cNvPr>
          <p:cNvSpPr>
            <a:spLocks noGrp="1"/>
          </p:cNvSpPr>
          <p:nvPr>
            <p:ph idx="1"/>
          </p:nvPr>
        </p:nvSpPr>
        <p:spPr/>
        <p:txBody>
          <a:bodyPr>
            <a:normAutofit fontScale="62500" lnSpcReduction="20000"/>
          </a:bodyPr>
          <a:lstStyle/>
          <a:p>
            <a:r>
              <a:rPr lang="en-US" b="1" dirty="0"/>
              <a:t>1. Top level: What do we mean by “explainability”?</a:t>
            </a:r>
          </a:p>
          <a:p>
            <a:r>
              <a:rPr lang="en-US" dirty="0"/>
              <a:t>At the highest level, you’ve got three broad approaches to understanding models:</a:t>
            </a:r>
          </a:p>
          <a:p>
            <a:r>
              <a:rPr lang="en-US" b="1" dirty="0"/>
              <a:t>Black-box / behavioral explanations</a:t>
            </a:r>
            <a:endParaRPr lang="en-US" dirty="0"/>
          </a:p>
          <a:p>
            <a:pPr lvl="1"/>
            <a:r>
              <a:rPr lang="en-US" dirty="0"/>
              <a:t>Treat the model as a function: you poke it with inputs, see outputs.</a:t>
            </a:r>
          </a:p>
          <a:p>
            <a:pPr lvl="1"/>
            <a:r>
              <a:rPr lang="en-US" dirty="0"/>
              <a:t>Focus: </a:t>
            </a:r>
            <a:r>
              <a:rPr lang="en-US" i="1" dirty="0"/>
              <a:t>What does it do?</a:t>
            </a:r>
            <a:endParaRPr lang="en-US" dirty="0"/>
          </a:p>
          <a:p>
            <a:pPr lvl="1"/>
            <a:r>
              <a:rPr lang="en-US" dirty="0"/>
              <a:t>Examples: performance metrics, partial dependence plots, counterfactuals.</a:t>
            </a:r>
          </a:p>
          <a:p>
            <a:r>
              <a:rPr lang="en-US" b="1" dirty="0"/>
              <a:t>Feature-level explanations</a:t>
            </a:r>
            <a:endParaRPr lang="en-US" dirty="0"/>
          </a:p>
          <a:p>
            <a:pPr lvl="1"/>
            <a:r>
              <a:rPr lang="en-US" dirty="0"/>
              <a:t>Explain predictions in terms of </a:t>
            </a:r>
            <a:r>
              <a:rPr lang="en-US" i="1" dirty="0"/>
              <a:t>input features</a:t>
            </a:r>
            <a:r>
              <a:rPr lang="en-US" dirty="0"/>
              <a:t>.</a:t>
            </a:r>
          </a:p>
          <a:p>
            <a:pPr lvl="1"/>
            <a:r>
              <a:rPr lang="en-US" dirty="0"/>
              <a:t>Focus: </a:t>
            </a:r>
            <a:r>
              <a:rPr lang="en-US" i="1" dirty="0"/>
              <a:t>Which features matter, and how?</a:t>
            </a:r>
            <a:endParaRPr lang="en-US" dirty="0"/>
          </a:p>
          <a:p>
            <a:pPr lvl="1"/>
            <a:r>
              <a:rPr lang="en-US" dirty="0"/>
              <a:t>Examples: SHAP, LIME, saliency maps, integrated gradients, feature importance.</a:t>
            </a:r>
          </a:p>
          <a:p>
            <a:r>
              <a:rPr lang="en-US" b="1" dirty="0"/>
              <a:t>Mechanistic / internal explanations</a:t>
            </a:r>
            <a:endParaRPr lang="en-US" dirty="0"/>
          </a:p>
          <a:p>
            <a:pPr lvl="1"/>
            <a:r>
              <a:rPr lang="en-US" dirty="0"/>
              <a:t>Open the box, study the internal computation.</a:t>
            </a:r>
          </a:p>
          <a:p>
            <a:pPr lvl="1"/>
            <a:r>
              <a:rPr lang="en-US" dirty="0"/>
              <a:t>Focus: </a:t>
            </a:r>
            <a:r>
              <a:rPr lang="en-US" i="1" dirty="0"/>
              <a:t>How is this function implemented inside the network?</a:t>
            </a:r>
            <a:endParaRPr lang="en-US" dirty="0"/>
          </a:p>
          <a:p>
            <a:pPr lvl="1"/>
            <a:r>
              <a:rPr lang="en-US" dirty="0"/>
              <a:t>Here is where </a:t>
            </a:r>
            <a:r>
              <a:rPr lang="en-US" b="1" dirty="0"/>
              <a:t>mechanistic interpretability</a:t>
            </a:r>
            <a:r>
              <a:rPr lang="en-US" dirty="0"/>
              <a:t> lives.</a:t>
            </a:r>
          </a:p>
          <a:p>
            <a:r>
              <a:rPr lang="en-US" dirty="0"/>
              <a:t>So mechanistic interpretability is not “another XAI method”; it’s a different </a:t>
            </a:r>
            <a:r>
              <a:rPr lang="en-US" i="1" dirty="0"/>
              <a:t>level</a:t>
            </a:r>
            <a:r>
              <a:rPr lang="en-US" dirty="0"/>
              <a:t> of explanation (internal mechanisms vs behavior or input features).</a:t>
            </a:r>
          </a:p>
          <a:p>
            <a:endParaRPr lang="en-TR" dirty="0"/>
          </a:p>
        </p:txBody>
      </p:sp>
    </p:spTree>
    <p:extLst>
      <p:ext uri="{BB962C8B-B14F-4D97-AF65-F5344CB8AC3E}">
        <p14:creationId xmlns:p14="http://schemas.microsoft.com/office/powerpoint/2010/main" val="26054235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9453C-C852-AC64-BD8A-27C46CB0C204}"/>
              </a:ext>
            </a:extLst>
          </p:cNvPr>
          <p:cNvSpPr>
            <a:spLocks noGrp="1"/>
          </p:cNvSpPr>
          <p:nvPr>
            <p:ph type="title"/>
          </p:nvPr>
        </p:nvSpPr>
        <p:spPr>
          <a:xfrm>
            <a:off x="838200" y="2643"/>
            <a:ext cx="10515600" cy="1077218"/>
          </a:xfrm>
        </p:spPr>
        <p:txBody>
          <a:bodyPr>
            <a:normAutofit/>
          </a:bodyPr>
          <a:lstStyle/>
          <a:p>
            <a:pPr algn="ctr"/>
            <a:r>
              <a:rPr lang="en-TR" sz="2800" dirty="0"/>
              <a:t>Explainable AI (XAI) 3 Axes</a:t>
            </a:r>
          </a:p>
        </p:txBody>
      </p:sp>
      <p:cxnSp>
        <p:nvCxnSpPr>
          <p:cNvPr id="5" name="Straight Arrow Connector 4">
            <a:extLst>
              <a:ext uri="{FF2B5EF4-FFF2-40B4-BE49-F238E27FC236}">
                <a16:creationId xmlns:a16="http://schemas.microsoft.com/office/drawing/2014/main" id="{0A9B0322-031B-B0E0-0CAF-29558335032C}"/>
              </a:ext>
            </a:extLst>
          </p:cNvPr>
          <p:cNvCxnSpPr>
            <a:cxnSpLocks/>
            <a:stCxn id="2" idx="2"/>
          </p:cNvCxnSpPr>
          <p:nvPr/>
        </p:nvCxnSpPr>
        <p:spPr>
          <a:xfrm flipH="1">
            <a:off x="1531255" y="1079861"/>
            <a:ext cx="4564745" cy="478835"/>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7" name="Straight Arrow Connector 6">
            <a:extLst>
              <a:ext uri="{FF2B5EF4-FFF2-40B4-BE49-F238E27FC236}">
                <a16:creationId xmlns:a16="http://schemas.microsoft.com/office/drawing/2014/main" id="{09E8F60D-7E59-90B0-1908-DDD0C5BA1EAB}"/>
              </a:ext>
            </a:extLst>
          </p:cNvPr>
          <p:cNvCxnSpPr>
            <a:cxnSpLocks/>
            <a:stCxn id="2" idx="2"/>
          </p:cNvCxnSpPr>
          <p:nvPr/>
        </p:nvCxnSpPr>
        <p:spPr>
          <a:xfrm>
            <a:off x="6096000" y="1079861"/>
            <a:ext cx="0" cy="67663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9" name="Straight Arrow Connector 8">
            <a:extLst>
              <a:ext uri="{FF2B5EF4-FFF2-40B4-BE49-F238E27FC236}">
                <a16:creationId xmlns:a16="http://schemas.microsoft.com/office/drawing/2014/main" id="{62744EA2-48AE-7D92-16C2-F63A28484D09}"/>
              </a:ext>
            </a:extLst>
          </p:cNvPr>
          <p:cNvCxnSpPr>
            <a:cxnSpLocks/>
            <a:stCxn id="2" idx="2"/>
          </p:cNvCxnSpPr>
          <p:nvPr/>
        </p:nvCxnSpPr>
        <p:spPr>
          <a:xfrm>
            <a:off x="6096000" y="1079861"/>
            <a:ext cx="4688113" cy="550448"/>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2" name="TextBox 11">
            <a:extLst>
              <a:ext uri="{FF2B5EF4-FFF2-40B4-BE49-F238E27FC236}">
                <a16:creationId xmlns:a16="http://schemas.microsoft.com/office/drawing/2014/main" id="{DAB4DD2A-0CAE-0161-50C5-A66D1F22E0F4}"/>
              </a:ext>
            </a:extLst>
          </p:cNvPr>
          <p:cNvSpPr txBox="1"/>
          <p:nvPr/>
        </p:nvSpPr>
        <p:spPr>
          <a:xfrm>
            <a:off x="123372" y="2323636"/>
            <a:ext cx="3454400" cy="1815882"/>
          </a:xfrm>
          <a:prstGeom prst="rect">
            <a:avLst/>
          </a:prstGeom>
          <a:noFill/>
        </p:spPr>
        <p:txBody>
          <a:bodyPr wrap="square" rtlCol="0">
            <a:spAutoFit/>
          </a:bodyPr>
          <a:lstStyle/>
          <a:p>
            <a:pPr lvl="0" eaLnBrk="0" fontAlgn="base" hangingPunct="0">
              <a:spcBef>
                <a:spcPct val="0"/>
              </a:spcBef>
              <a:spcAft>
                <a:spcPct val="0"/>
              </a:spcAft>
              <a:buFontTx/>
              <a:buChar char="•"/>
            </a:pPr>
            <a:r>
              <a:rPr lang="en-TR" altLang="en-TR" sz="1400" b="1" dirty="0">
                <a:latin typeface="Arial" panose="020B0604020202020204" pitchFamily="34" charset="0"/>
              </a:rPr>
              <a:t>Intrinsic interpretability</a:t>
            </a:r>
            <a:r>
              <a:rPr lang="en-TR" altLang="en-TR" sz="1400" dirty="0">
                <a:latin typeface="Arial" panose="020B0604020202020204" pitchFamily="34" charset="0"/>
              </a:rPr>
              <a:t>: the model is designed to be interpretable</a:t>
            </a:r>
          </a:p>
          <a:p>
            <a:pPr lvl="0" eaLnBrk="0" fontAlgn="base" hangingPunct="0">
              <a:spcBef>
                <a:spcPct val="0"/>
              </a:spcBef>
              <a:spcAft>
                <a:spcPct val="0"/>
              </a:spcAft>
              <a:buFontTx/>
              <a:buChar char="•"/>
            </a:pPr>
            <a:r>
              <a:rPr lang="en-TR" altLang="en-TR" sz="1400" dirty="0">
                <a:latin typeface="Arial" panose="020B0604020202020204" pitchFamily="34" charset="0"/>
              </a:rPr>
              <a:t>Linear models, small trees, GAMs, monotonic networks, symbolic models.</a:t>
            </a:r>
          </a:p>
          <a:p>
            <a:pPr lvl="0" eaLnBrk="0" fontAlgn="base" hangingPunct="0">
              <a:spcBef>
                <a:spcPct val="0"/>
              </a:spcBef>
              <a:spcAft>
                <a:spcPct val="0"/>
              </a:spcAft>
              <a:buFontTx/>
              <a:buChar char="•"/>
            </a:pPr>
            <a:r>
              <a:rPr lang="en-TR" altLang="en-TR" sz="1400" b="1" dirty="0">
                <a:latin typeface="Arial" panose="020B0604020202020204" pitchFamily="34" charset="0"/>
              </a:rPr>
              <a:t>Post-hoc interpretability</a:t>
            </a:r>
            <a:r>
              <a:rPr lang="en-TR" altLang="en-TR" sz="1400" dirty="0">
                <a:latin typeface="Arial" panose="020B0604020202020204" pitchFamily="34" charset="0"/>
              </a:rPr>
              <a:t>: explain a trained black box</a:t>
            </a:r>
          </a:p>
          <a:p>
            <a:pPr lvl="0" eaLnBrk="0" fontAlgn="base" hangingPunct="0">
              <a:spcBef>
                <a:spcPct val="0"/>
              </a:spcBef>
              <a:spcAft>
                <a:spcPct val="0"/>
              </a:spcAft>
              <a:buFontTx/>
              <a:buChar char="•"/>
            </a:pPr>
            <a:r>
              <a:rPr lang="en-TR" altLang="en-TR" sz="1400" dirty="0">
                <a:latin typeface="Arial" panose="020B0604020202020204" pitchFamily="34" charset="0"/>
              </a:rPr>
              <a:t>LIME, SHAP, saliency, counterfactuals, probing, etc.</a:t>
            </a:r>
          </a:p>
        </p:txBody>
      </p:sp>
      <p:sp>
        <p:nvSpPr>
          <p:cNvPr id="13" name="TextBox 12">
            <a:extLst>
              <a:ext uri="{FF2B5EF4-FFF2-40B4-BE49-F238E27FC236}">
                <a16:creationId xmlns:a16="http://schemas.microsoft.com/office/drawing/2014/main" id="{13360CC4-B770-3CD4-A921-04666E2344EE}"/>
              </a:ext>
            </a:extLst>
          </p:cNvPr>
          <p:cNvSpPr txBox="1"/>
          <p:nvPr/>
        </p:nvSpPr>
        <p:spPr>
          <a:xfrm>
            <a:off x="3954913" y="2346304"/>
            <a:ext cx="4122058" cy="1077218"/>
          </a:xfrm>
          <a:prstGeom prst="rect">
            <a:avLst/>
          </a:prstGeom>
          <a:noFill/>
        </p:spPr>
        <p:txBody>
          <a:bodyPr wrap="square" rtlCol="0">
            <a:spAutoFit/>
          </a:bodyPr>
          <a:lstStyle/>
          <a:p>
            <a:r>
              <a:rPr lang="en-US" sz="1600" b="1" dirty="0"/>
              <a:t>Local</a:t>
            </a:r>
            <a:r>
              <a:rPr lang="en-US" sz="1600" dirty="0"/>
              <a:t>: explain </a:t>
            </a:r>
            <a:r>
              <a:rPr lang="en-US" sz="1600" i="1" dirty="0"/>
              <a:t>a single prediction</a:t>
            </a:r>
            <a:r>
              <a:rPr lang="en-US" sz="1600" dirty="0"/>
              <a:t> (why did the model do X for this input?).</a:t>
            </a:r>
          </a:p>
          <a:p>
            <a:r>
              <a:rPr lang="en-US" sz="1600" b="1" dirty="0"/>
              <a:t>Global</a:t>
            </a:r>
            <a:r>
              <a:rPr lang="en-US" sz="1600" dirty="0"/>
              <a:t>: explain the model’s </a:t>
            </a:r>
            <a:r>
              <a:rPr lang="en-US" sz="1600" i="1" dirty="0"/>
              <a:t>overall behavior</a:t>
            </a:r>
            <a:r>
              <a:rPr lang="en-US" sz="1600" dirty="0"/>
              <a:t> (what function does it compute?).</a:t>
            </a:r>
          </a:p>
        </p:txBody>
      </p:sp>
      <p:sp>
        <p:nvSpPr>
          <p:cNvPr id="14" name="TextBox 13">
            <a:extLst>
              <a:ext uri="{FF2B5EF4-FFF2-40B4-BE49-F238E27FC236}">
                <a16:creationId xmlns:a16="http://schemas.microsoft.com/office/drawing/2014/main" id="{E6811612-0648-B906-95E3-B2CE1E67B665}"/>
              </a:ext>
            </a:extLst>
          </p:cNvPr>
          <p:cNvSpPr txBox="1"/>
          <p:nvPr/>
        </p:nvSpPr>
        <p:spPr>
          <a:xfrm>
            <a:off x="8440054" y="2377327"/>
            <a:ext cx="3751946" cy="1323439"/>
          </a:xfrm>
          <a:prstGeom prst="rect">
            <a:avLst/>
          </a:prstGeom>
          <a:noFill/>
        </p:spPr>
        <p:txBody>
          <a:bodyPr wrap="square" rtlCol="0">
            <a:spAutoFit/>
          </a:bodyPr>
          <a:lstStyle/>
          <a:p>
            <a:r>
              <a:rPr lang="en-US" sz="1600" b="1" dirty="0"/>
              <a:t>Model-agnostic</a:t>
            </a:r>
            <a:r>
              <a:rPr lang="en-US" sz="1600" dirty="0"/>
              <a:t>: treat the model as a black box (LIME, SHAP, counterfactuals).</a:t>
            </a:r>
          </a:p>
          <a:p>
            <a:r>
              <a:rPr lang="en-US" sz="1600" b="1" dirty="0"/>
              <a:t>Model-specific</a:t>
            </a:r>
            <a:r>
              <a:rPr lang="en-US" sz="1600" dirty="0"/>
              <a:t>: use the internal structure (tree path explanations, attention patterns, convolution filters).</a:t>
            </a:r>
          </a:p>
        </p:txBody>
      </p:sp>
      <p:sp>
        <p:nvSpPr>
          <p:cNvPr id="19" name="TextBox 18">
            <a:extLst>
              <a:ext uri="{FF2B5EF4-FFF2-40B4-BE49-F238E27FC236}">
                <a16:creationId xmlns:a16="http://schemas.microsoft.com/office/drawing/2014/main" id="{96847A4E-1FD3-2295-80AF-F05200ACC77C}"/>
              </a:ext>
            </a:extLst>
          </p:cNvPr>
          <p:cNvSpPr txBox="1"/>
          <p:nvPr/>
        </p:nvSpPr>
        <p:spPr>
          <a:xfrm>
            <a:off x="290284" y="1756500"/>
            <a:ext cx="2481942" cy="369332"/>
          </a:xfrm>
          <a:prstGeom prst="rect">
            <a:avLst/>
          </a:prstGeom>
          <a:noFill/>
        </p:spPr>
        <p:txBody>
          <a:bodyPr wrap="square">
            <a:spAutoFit/>
          </a:bodyPr>
          <a:lstStyle/>
          <a:p>
            <a:pPr algn="ctr"/>
            <a:r>
              <a:rPr lang="en-TR" sz="1800" b="1" dirty="0"/>
              <a:t>Intrinsic vs Post-Hoc</a:t>
            </a:r>
          </a:p>
        </p:txBody>
      </p:sp>
      <p:sp>
        <p:nvSpPr>
          <p:cNvPr id="20" name="TextBox 19">
            <a:extLst>
              <a:ext uri="{FF2B5EF4-FFF2-40B4-BE49-F238E27FC236}">
                <a16:creationId xmlns:a16="http://schemas.microsoft.com/office/drawing/2014/main" id="{DE3D3862-3885-CA25-0D1E-4D52A4D1F64E}"/>
              </a:ext>
            </a:extLst>
          </p:cNvPr>
          <p:cNvSpPr txBox="1"/>
          <p:nvPr/>
        </p:nvSpPr>
        <p:spPr>
          <a:xfrm>
            <a:off x="4855029" y="1826822"/>
            <a:ext cx="2481942" cy="369332"/>
          </a:xfrm>
          <a:prstGeom prst="rect">
            <a:avLst/>
          </a:prstGeom>
          <a:noFill/>
        </p:spPr>
        <p:txBody>
          <a:bodyPr wrap="square">
            <a:spAutoFit/>
          </a:bodyPr>
          <a:lstStyle/>
          <a:p>
            <a:pPr algn="ctr"/>
            <a:r>
              <a:rPr lang="en-US" b="1" dirty="0"/>
              <a:t>Local vs Global</a:t>
            </a:r>
          </a:p>
        </p:txBody>
      </p:sp>
      <p:sp>
        <p:nvSpPr>
          <p:cNvPr id="21" name="TextBox 20">
            <a:extLst>
              <a:ext uri="{FF2B5EF4-FFF2-40B4-BE49-F238E27FC236}">
                <a16:creationId xmlns:a16="http://schemas.microsoft.com/office/drawing/2014/main" id="{67E2D101-225F-72A7-F2C3-3FC917D60AC3}"/>
              </a:ext>
            </a:extLst>
          </p:cNvPr>
          <p:cNvSpPr txBox="1"/>
          <p:nvPr/>
        </p:nvSpPr>
        <p:spPr>
          <a:xfrm>
            <a:off x="8897257" y="1797939"/>
            <a:ext cx="3200396" cy="369332"/>
          </a:xfrm>
          <a:prstGeom prst="rect">
            <a:avLst/>
          </a:prstGeom>
          <a:noFill/>
        </p:spPr>
        <p:txBody>
          <a:bodyPr wrap="square">
            <a:spAutoFit/>
          </a:bodyPr>
          <a:lstStyle/>
          <a:p>
            <a:pPr algn="ctr"/>
            <a:r>
              <a:rPr lang="en-TR" sz="1800" b="1" dirty="0"/>
              <a:t>Model Agnostic vs Specific</a:t>
            </a:r>
          </a:p>
        </p:txBody>
      </p:sp>
      <p:pic>
        <p:nvPicPr>
          <p:cNvPr id="1029" name="Picture 5" descr="Visualizing decision tree partition and decision boundaries –  paulvanderlaken.com">
            <a:extLst>
              <a:ext uri="{FF2B5EF4-FFF2-40B4-BE49-F238E27FC236}">
                <a16:creationId xmlns:a16="http://schemas.microsoft.com/office/drawing/2014/main" id="{14C721D0-95DF-B88F-95FB-C679EA5093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372" y="4489579"/>
            <a:ext cx="3026229" cy="2161592"/>
          </a:xfrm>
          <a:prstGeom prst="rect">
            <a:avLst/>
          </a:prstGeom>
          <a:noFill/>
          <a:extLst>
            <a:ext uri="{909E8E84-426E-40DD-AFC4-6F175D3DCCD1}">
              <a14:hiddenFill xmlns:a14="http://schemas.microsoft.com/office/drawing/2010/main">
                <a:solidFill>
                  <a:srgbClr val="FFFFFF"/>
                </a:solidFill>
              </a14:hiddenFill>
            </a:ext>
          </a:extLst>
        </p:spPr>
      </p:pic>
      <p:pic>
        <p:nvPicPr>
          <p:cNvPr id="1031" name="Picture 7" descr="LIME: Local Interpretable Model-Agnostic Explanations">
            <a:extLst>
              <a:ext uri="{FF2B5EF4-FFF2-40B4-BE49-F238E27FC236}">
                <a16:creationId xmlns:a16="http://schemas.microsoft.com/office/drawing/2014/main" id="{CB0C8BDF-E2B1-842A-B5AC-08D622BEC7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2008" y="4139518"/>
            <a:ext cx="4322556" cy="2334180"/>
          </a:xfrm>
          <a:prstGeom prst="rect">
            <a:avLst/>
          </a:prstGeom>
          <a:noFill/>
          <a:extLst>
            <a:ext uri="{909E8E84-426E-40DD-AFC4-6F175D3DCCD1}">
              <a14:hiddenFill xmlns:a14="http://schemas.microsoft.com/office/drawing/2010/main">
                <a:solidFill>
                  <a:srgbClr val="FFFFFF"/>
                </a:solidFill>
              </a14:hiddenFill>
            </a:ext>
          </a:extLst>
        </p:spPr>
      </p:pic>
      <p:pic>
        <p:nvPicPr>
          <p:cNvPr id="1033" name="Picture 9" descr="Explaining Machine Learning Models: A Non-Technical Guide to Interpreting  SHAP Analyses">
            <a:extLst>
              <a:ext uri="{FF2B5EF4-FFF2-40B4-BE49-F238E27FC236}">
                <a16:creationId xmlns:a16="http://schemas.microsoft.com/office/drawing/2014/main" id="{EA284553-AA69-B576-8E67-2E346E4F5D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6971" y="4005451"/>
            <a:ext cx="4122058" cy="2760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37744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1769D-40AE-A43F-5DC5-4ACBD7D3286E}"/>
              </a:ext>
            </a:extLst>
          </p:cNvPr>
          <p:cNvSpPr>
            <a:spLocks noGrp="1"/>
          </p:cNvSpPr>
          <p:nvPr>
            <p:ph type="title"/>
          </p:nvPr>
        </p:nvSpPr>
        <p:spPr/>
        <p:txBody>
          <a:bodyPr>
            <a:normAutofit/>
          </a:bodyPr>
          <a:lstStyle/>
          <a:p>
            <a:r>
              <a:rPr lang="en-TR" sz="2800" dirty="0"/>
              <a:t>Mechanictic Interpretability (Anthropic)</a:t>
            </a:r>
          </a:p>
        </p:txBody>
      </p:sp>
      <p:sp>
        <p:nvSpPr>
          <p:cNvPr id="3" name="Content Placeholder 2">
            <a:extLst>
              <a:ext uri="{FF2B5EF4-FFF2-40B4-BE49-F238E27FC236}">
                <a16:creationId xmlns:a16="http://schemas.microsoft.com/office/drawing/2014/main" id="{8FA440D9-2D33-A2AB-AE0B-CEC4EB2D484F}"/>
              </a:ext>
            </a:extLst>
          </p:cNvPr>
          <p:cNvSpPr>
            <a:spLocks noGrp="1"/>
          </p:cNvSpPr>
          <p:nvPr>
            <p:ph idx="1"/>
          </p:nvPr>
        </p:nvSpPr>
        <p:spPr/>
        <p:txBody>
          <a:bodyPr>
            <a:normAutofit/>
          </a:bodyPr>
          <a:lstStyle/>
          <a:p>
            <a:pPr lvl="0" eaLnBrk="0" fontAlgn="base" hangingPunct="0">
              <a:spcBef>
                <a:spcPct val="0"/>
              </a:spcBef>
              <a:spcAft>
                <a:spcPct val="0"/>
              </a:spcAft>
              <a:buFontTx/>
              <a:buChar char="•"/>
            </a:pPr>
            <a:r>
              <a:rPr lang="en-TR" altLang="en-TR" sz="1600" b="1" dirty="0">
                <a:latin typeface="Arial" panose="020B0604020202020204" pitchFamily="34" charset="0"/>
              </a:rPr>
              <a:t>Mechanistic interpretability</a:t>
            </a:r>
            <a:r>
              <a:rPr lang="en-TR" altLang="en-TR" sz="1600" dirty="0">
                <a:latin typeface="Arial" panose="020B0604020202020204" pitchFamily="34" charset="0"/>
              </a:rPr>
              <a:t>:</a:t>
            </a:r>
          </a:p>
          <a:p>
            <a:pPr lvl="0" eaLnBrk="0" fontAlgn="base" hangingPunct="0">
              <a:spcBef>
                <a:spcPct val="0"/>
              </a:spcBef>
              <a:spcAft>
                <a:spcPct val="0"/>
              </a:spcAft>
              <a:buFontTx/>
              <a:buChar char="•"/>
            </a:pPr>
            <a:r>
              <a:rPr lang="en-TR" altLang="en-TR" sz="1600" dirty="0">
                <a:latin typeface="Arial" panose="020B0604020202020204" pitchFamily="34" charset="0"/>
              </a:rPr>
              <a:t>Mostly post-hoc (we take a trained net and reverse-engineer it),</a:t>
            </a:r>
          </a:p>
          <a:p>
            <a:pPr lvl="0" eaLnBrk="0" fontAlgn="base" hangingPunct="0">
              <a:spcBef>
                <a:spcPct val="0"/>
              </a:spcBef>
              <a:spcAft>
                <a:spcPct val="0"/>
              </a:spcAft>
              <a:buFontTx/>
              <a:buChar char="•"/>
            </a:pPr>
            <a:r>
              <a:rPr lang="en-TR" altLang="en-TR" sz="1600" dirty="0">
                <a:latin typeface="Arial" panose="020B0604020202020204" pitchFamily="34" charset="0"/>
              </a:rPr>
              <a:t>But often aspires to </a:t>
            </a:r>
            <a:r>
              <a:rPr lang="en-TR" altLang="en-TR" sz="1600" i="1" dirty="0">
                <a:latin typeface="Arial" panose="020B0604020202020204" pitchFamily="34" charset="0"/>
              </a:rPr>
              <a:t>intrinsic</a:t>
            </a:r>
            <a:r>
              <a:rPr lang="en-TR" altLang="en-TR" sz="1600" dirty="0">
                <a:latin typeface="Arial" panose="020B0604020202020204" pitchFamily="34" charset="0"/>
              </a:rPr>
              <a:t> understanding of specific</a:t>
            </a:r>
          </a:p>
          <a:p>
            <a:pPr lvl="0" eaLnBrk="0" fontAlgn="base" hangingPunct="0">
              <a:spcBef>
                <a:spcPct val="0"/>
              </a:spcBef>
              <a:spcAft>
                <a:spcPct val="0"/>
              </a:spcAft>
              <a:buFontTx/>
              <a:buChar char="•"/>
            </a:pPr>
            <a:endParaRPr lang="en-TR" sz="1600" dirty="0">
              <a:latin typeface="Arial" panose="020B0604020202020204" pitchFamily="34" charset="0"/>
            </a:endParaRPr>
          </a:p>
          <a:p>
            <a:r>
              <a:rPr lang="en-US" sz="1600" b="1" dirty="0"/>
              <a:t>Mechanistic interpretability</a:t>
            </a:r>
            <a:r>
              <a:rPr lang="en-US" sz="1600" dirty="0"/>
              <a:t> is primarily:</a:t>
            </a:r>
          </a:p>
          <a:p>
            <a:r>
              <a:rPr lang="en-US" sz="1600" dirty="0"/>
              <a:t>Global (what algorithm is this attention head implementing?),</a:t>
            </a:r>
          </a:p>
          <a:p>
            <a:r>
              <a:rPr lang="en-US" sz="1600" dirty="0"/>
              <a:t>But can support local explanations (this particular token activated this particular circuit).</a:t>
            </a:r>
          </a:p>
          <a:p>
            <a:r>
              <a:rPr lang="en-US" sz="1600" dirty="0"/>
              <a:t>Strongly </a:t>
            </a:r>
            <a:r>
              <a:rPr lang="en-US" sz="1600" b="1" dirty="0"/>
              <a:t>model-specific</a:t>
            </a:r>
            <a:r>
              <a:rPr lang="en-US" sz="1600" dirty="0"/>
              <a:t>, and currently most developed for:</a:t>
            </a:r>
          </a:p>
          <a:p>
            <a:r>
              <a:rPr lang="en-US" sz="1600" dirty="0"/>
              <a:t>Transformer language models</a:t>
            </a:r>
          </a:p>
          <a:p>
            <a:r>
              <a:rPr lang="en-US" sz="1600" dirty="0"/>
              <a:t>Small vision models and toy models</a:t>
            </a:r>
          </a:p>
          <a:p>
            <a:endParaRPr lang="en-US" sz="1600" dirty="0"/>
          </a:p>
          <a:p>
            <a:r>
              <a:rPr lang="en-US" sz="1600" dirty="0"/>
              <a:t>One of the cleanest example of mechanistic interpretability (PROGRESS MEASURES FOR GROKKING VIA MECHANISTIC INTERPRETABILITY).</a:t>
            </a:r>
          </a:p>
          <a:p>
            <a:r>
              <a:rPr lang="en-US" sz="1600" dirty="0"/>
              <a:t>We’ll examine this methods for </a:t>
            </a:r>
          </a:p>
          <a:p>
            <a:endParaRPr lang="en-US" sz="2400" dirty="0"/>
          </a:p>
          <a:p>
            <a:pPr lvl="0" eaLnBrk="0" fontAlgn="base" hangingPunct="0">
              <a:spcBef>
                <a:spcPct val="0"/>
              </a:spcBef>
              <a:spcAft>
                <a:spcPct val="0"/>
              </a:spcAft>
              <a:buFontTx/>
              <a:buChar char="•"/>
            </a:pPr>
            <a:endParaRPr lang="en-TR" sz="2400" dirty="0"/>
          </a:p>
          <a:p>
            <a:endParaRPr lang="en-TR" sz="2400" dirty="0"/>
          </a:p>
        </p:txBody>
      </p:sp>
      <p:sp>
        <p:nvSpPr>
          <p:cNvPr id="4" name="Rectangle 1">
            <a:extLst>
              <a:ext uri="{FF2B5EF4-FFF2-40B4-BE49-F238E27FC236}">
                <a16:creationId xmlns:a16="http://schemas.microsoft.com/office/drawing/2014/main" id="{09C523EF-CF32-A748-264C-DDE0EB3DAB54}"/>
              </a:ext>
            </a:extLst>
          </p:cNvPr>
          <p:cNvSpPr>
            <a:spLocks noChangeArrowheads="1"/>
          </p:cNvSpPr>
          <p:nvPr/>
        </p:nvSpPr>
        <p:spPr bwMode="auto">
          <a:xfrm>
            <a:off x="0" y="-323165"/>
            <a:ext cx="217559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TR" altLang="en-TR" sz="1800" b="0" i="0" u="none" strike="noStrike" cap="none" normalizeH="0" baseline="0" dirty="0">
                <a:ln>
                  <a:noFill/>
                </a:ln>
                <a:solidFill>
                  <a:schemeClr val="tx1"/>
                </a:solidFill>
                <a:effectLst/>
                <a:latin typeface="Arial" panose="020B0604020202020204" pitchFamily="34" charset="0"/>
              </a:rPr>
              <a:t>circuits/algorithms.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TR" altLang="en-TR"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19173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83931-5528-505E-5B7C-F03AAC1A7598}"/>
              </a:ext>
            </a:extLst>
          </p:cNvPr>
          <p:cNvSpPr>
            <a:spLocks noGrp="1"/>
          </p:cNvSpPr>
          <p:nvPr>
            <p:ph type="title"/>
          </p:nvPr>
        </p:nvSpPr>
        <p:spPr>
          <a:xfrm>
            <a:off x="330200" y="122691"/>
            <a:ext cx="10515600" cy="1325563"/>
          </a:xfrm>
        </p:spPr>
        <p:txBody>
          <a:bodyPr>
            <a:normAutofit/>
          </a:bodyPr>
          <a:lstStyle/>
          <a:p>
            <a:r>
              <a:rPr lang="en-US" sz="2400" dirty="0"/>
              <a:t>Toy Transformer Model – Mechanistic Interpretability</a:t>
            </a:r>
            <a:endParaRPr lang="en-TR" sz="2400" dirty="0"/>
          </a:p>
        </p:txBody>
      </p:sp>
      <p:sp>
        <p:nvSpPr>
          <p:cNvPr id="3" name="Content Placeholder 2">
            <a:extLst>
              <a:ext uri="{FF2B5EF4-FFF2-40B4-BE49-F238E27FC236}">
                <a16:creationId xmlns:a16="http://schemas.microsoft.com/office/drawing/2014/main" id="{58A28AAA-A2AF-E848-8966-30CC04D452D2}"/>
              </a:ext>
            </a:extLst>
          </p:cNvPr>
          <p:cNvSpPr>
            <a:spLocks noGrp="1"/>
          </p:cNvSpPr>
          <p:nvPr>
            <p:ph idx="1"/>
          </p:nvPr>
        </p:nvSpPr>
        <p:spPr>
          <a:xfrm>
            <a:off x="330200" y="1253331"/>
            <a:ext cx="10515600" cy="4351338"/>
          </a:xfrm>
        </p:spPr>
        <p:txBody>
          <a:bodyPr>
            <a:normAutofit/>
          </a:bodyPr>
          <a:lstStyle/>
          <a:p>
            <a:r>
              <a:rPr lang="en-US" sz="1800" b="1" dirty="0"/>
              <a:t>Setting</a:t>
            </a:r>
            <a:r>
              <a:rPr lang="en-US" sz="1800" dirty="0"/>
              <a:t>: Deterministic dataset, single layer self-attention transformer</a:t>
            </a:r>
          </a:p>
          <a:p>
            <a:r>
              <a:rPr lang="en-US" sz="1800" b="1" dirty="0"/>
              <a:t>Goal</a:t>
            </a:r>
            <a:r>
              <a:rPr lang="en-US" sz="1800" dirty="0"/>
              <a:t>: Modular addition where a model takes inputs a, b ∈ {0, . . . , P −1} for some prime P and predicts their sum c mod P.</a:t>
            </a:r>
          </a:p>
          <a:p>
            <a:r>
              <a:rPr lang="en-US" sz="1800" dirty="0"/>
              <a:t>Completely mapping each step of the transformer to </a:t>
            </a:r>
            <a:r>
              <a:rPr lang="en-US" sz="1800" b="1" dirty="0"/>
              <a:t>analytical functions. How?</a:t>
            </a:r>
          </a:p>
          <a:p>
            <a:pPr marL="0" indent="0">
              <a:buNone/>
            </a:pPr>
            <a:endParaRPr lang="en-US" sz="1800" dirty="0"/>
          </a:p>
        </p:txBody>
      </p:sp>
      <p:pic>
        <p:nvPicPr>
          <p:cNvPr id="7" name="Picture 6" descr="A white page with black text&#10;&#10;AI-generated content may be incorrect.">
            <a:extLst>
              <a:ext uri="{FF2B5EF4-FFF2-40B4-BE49-F238E27FC236}">
                <a16:creationId xmlns:a16="http://schemas.microsoft.com/office/drawing/2014/main" id="{015DE1DC-33A5-B068-1BD0-639DA95D5B50}"/>
              </a:ext>
            </a:extLst>
          </p:cNvPr>
          <p:cNvPicPr>
            <a:picLocks noChangeAspect="1"/>
          </p:cNvPicPr>
          <p:nvPr/>
        </p:nvPicPr>
        <p:blipFill>
          <a:blip r:embed="rId2"/>
          <a:stretch>
            <a:fillRect/>
          </a:stretch>
        </p:blipFill>
        <p:spPr>
          <a:xfrm>
            <a:off x="229677" y="2653735"/>
            <a:ext cx="10716646" cy="4081574"/>
          </a:xfrm>
          <a:prstGeom prst="rect">
            <a:avLst/>
          </a:prstGeom>
        </p:spPr>
      </p:pic>
    </p:spTree>
    <p:extLst>
      <p:ext uri="{BB962C8B-B14F-4D97-AF65-F5344CB8AC3E}">
        <p14:creationId xmlns:p14="http://schemas.microsoft.com/office/powerpoint/2010/main" val="3658893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3D871-3827-B778-D12D-BF4C27787BC6}"/>
              </a:ext>
            </a:extLst>
          </p:cNvPr>
          <p:cNvSpPr>
            <a:spLocks noGrp="1"/>
          </p:cNvSpPr>
          <p:nvPr>
            <p:ph type="title"/>
          </p:nvPr>
        </p:nvSpPr>
        <p:spPr/>
        <p:txBody>
          <a:bodyPr/>
          <a:lstStyle/>
          <a:p>
            <a:r>
              <a:rPr lang="en-TR" dirty="0"/>
              <a:t>Evidence</a:t>
            </a:r>
          </a:p>
        </p:txBody>
      </p:sp>
      <p:sp>
        <p:nvSpPr>
          <p:cNvPr id="3" name="Content Placeholder 2">
            <a:extLst>
              <a:ext uri="{FF2B5EF4-FFF2-40B4-BE49-F238E27FC236}">
                <a16:creationId xmlns:a16="http://schemas.microsoft.com/office/drawing/2014/main" id="{52B3EAA0-B9C4-A604-F9CE-A79B09ED8753}"/>
              </a:ext>
            </a:extLst>
          </p:cNvPr>
          <p:cNvSpPr>
            <a:spLocks noGrp="1"/>
          </p:cNvSpPr>
          <p:nvPr>
            <p:ph sz="half" idx="1"/>
          </p:nvPr>
        </p:nvSpPr>
        <p:spPr/>
        <p:txBody>
          <a:bodyPr>
            <a:normAutofit/>
          </a:bodyPr>
          <a:lstStyle/>
          <a:p>
            <a:pPr marL="457200" indent="-457200">
              <a:buFont typeface="+mj-lt"/>
              <a:buAutoNum type="arabicPeriod"/>
            </a:pPr>
            <a:r>
              <a:rPr lang="en-TR" sz="1600" dirty="0"/>
              <a:t>Periodic structure in network weights and activations</a:t>
            </a:r>
          </a:p>
          <a:p>
            <a:pPr marL="457200" indent="-457200">
              <a:buFont typeface="+mj-lt"/>
              <a:buAutoNum type="arabicPeriod"/>
            </a:pPr>
            <a:r>
              <a:rPr lang="en-TR" sz="1600" dirty="0"/>
              <a:t>Actual mechanism implemented by unembedding matrix W_L</a:t>
            </a:r>
          </a:p>
          <a:p>
            <a:pPr marL="457200" indent="-457200">
              <a:buFont typeface="+mj-lt"/>
              <a:buAutoNum type="arabicPeriod"/>
            </a:pPr>
            <a:r>
              <a:rPr lang="en-US" sz="1600" dirty="0"/>
              <a:t>A</a:t>
            </a:r>
            <a:r>
              <a:rPr lang="en-TR" sz="1600" dirty="0"/>
              <a:t>blation study to confirm</a:t>
            </a:r>
          </a:p>
        </p:txBody>
      </p:sp>
      <p:sp>
        <p:nvSpPr>
          <p:cNvPr id="4" name="Content Placeholder 3">
            <a:extLst>
              <a:ext uri="{FF2B5EF4-FFF2-40B4-BE49-F238E27FC236}">
                <a16:creationId xmlns:a16="http://schemas.microsoft.com/office/drawing/2014/main" id="{8829A497-77F9-CB11-88AF-CE05E11FCB82}"/>
              </a:ext>
            </a:extLst>
          </p:cNvPr>
          <p:cNvSpPr>
            <a:spLocks noGrp="1"/>
          </p:cNvSpPr>
          <p:nvPr>
            <p:ph sz="half" idx="2"/>
          </p:nvPr>
        </p:nvSpPr>
        <p:spPr>
          <a:xfrm>
            <a:off x="6172200" y="1990165"/>
            <a:ext cx="5181600" cy="4186798"/>
          </a:xfrm>
        </p:spPr>
        <p:txBody>
          <a:bodyPr>
            <a:normAutofit/>
          </a:bodyPr>
          <a:lstStyle/>
          <a:p>
            <a:r>
              <a:rPr lang="en-TR" sz="1600" dirty="0"/>
              <a:t>Set of techniques here don’t guarentee explainability for time series transformer. </a:t>
            </a:r>
          </a:p>
          <a:p>
            <a:endParaRPr lang="en-TR" sz="1600" dirty="0"/>
          </a:p>
          <a:p>
            <a:r>
              <a:rPr lang="en-TR" sz="1600" dirty="0"/>
              <a:t>The focus is rather to question the black-boxeness of transformers.</a:t>
            </a:r>
          </a:p>
        </p:txBody>
      </p:sp>
    </p:spTree>
    <p:extLst>
      <p:ext uri="{BB962C8B-B14F-4D97-AF65-F5344CB8AC3E}">
        <p14:creationId xmlns:p14="http://schemas.microsoft.com/office/powerpoint/2010/main" val="24343363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01DC15B-FC42-AF63-1C28-32EA49FA0158}"/>
              </a:ext>
            </a:extLst>
          </p:cNvPr>
          <p:cNvSpPr>
            <a:spLocks noGrp="1"/>
          </p:cNvSpPr>
          <p:nvPr>
            <p:ph type="title"/>
          </p:nvPr>
        </p:nvSpPr>
        <p:spPr>
          <a:xfrm>
            <a:off x="465273" y="246791"/>
            <a:ext cx="10515600" cy="1325563"/>
          </a:xfrm>
        </p:spPr>
        <p:txBody>
          <a:bodyPr>
            <a:normAutofit/>
          </a:bodyPr>
          <a:lstStyle/>
          <a:p>
            <a:r>
              <a:rPr lang="en-TR" sz="3200" dirty="0"/>
              <a:t>Periodic Structure and the Embedding/Unembedding matrices</a:t>
            </a:r>
          </a:p>
        </p:txBody>
      </p: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C6055ED6-2B7D-EEDD-A14E-47BCFAB75291}"/>
                  </a:ext>
                </a:extLst>
              </p:cNvPr>
              <p:cNvSpPr txBox="1"/>
              <p:nvPr/>
            </p:nvSpPr>
            <p:spPr>
              <a:xfrm>
                <a:off x="465273" y="4098664"/>
                <a:ext cx="10660828" cy="1200329"/>
              </a:xfrm>
              <a:prstGeom prst="rect">
                <a:avLst/>
              </a:prstGeom>
              <a:noFill/>
            </p:spPr>
            <p:txBody>
              <a:bodyPr wrap="square" rtlCol="0">
                <a:spAutoFit/>
              </a:bodyPr>
              <a:lstStyle/>
              <a:p>
                <a:r>
                  <a:rPr lang="en-TR" dirty="0"/>
                  <a:t>Activation is the output of ReLU at the MLP neuron: </a:t>
                </a:r>
                <a14:m>
                  <m:oMath xmlns:m="http://schemas.openxmlformats.org/officeDocument/2006/math">
                    <m:r>
                      <a:rPr lang="en-US" b="0" i="1" smtClean="0">
                        <a:latin typeface="Cambria Math" panose="02040503050406030204" pitchFamily="18" charset="0"/>
                      </a:rPr>
                      <m:t>𝑅𝑒𝐿𝑈</m:t>
                    </m:r>
                    <m:d>
                      <m:dPr>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𝑊</m:t>
                            </m:r>
                          </m:e>
                          <m:sub>
                            <m:r>
                              <a:rPr lang="en-US" b="0" i="1" smtClean="0">
                                <a:latin typeface="Cambria Math" panose="02040503050406030204" pitchFamily="18" charset="0"/>
                              </a:rPr>
                              <m:t>1</m:t>
                            </m:r>
                          </m:sub>
                        </m:sSub>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𝑏</m:t>
                        </m:r>
                      </m:e>
                    </m:d>
                    <m:r>
                      <a:rPr lang="en-US" b="0" i="1" smtClean="0">
                        <a:latin typeface="Cambria Math" panose="02040503050406030204" pitchFamily="18" charset="0"/>
                      </a:rPr>
                      <m:t>. </m:t>
                    </m:r>
                  </m:oMath>
                </a14:m>
                <a:r>
                  <a:rPr lang="en-TR" dirty="0"/>
                  <a:t>This can be captured by implementing hooks into the forward pass.</a:t>
                </a:r>
              </a:p>
              <a:p>
                <a:endParaRPr lang="en-TR" dirty="0"/>
              </a:p>
              <a:p>
                <a:endParaRPr lang="en-TR" dirty="0"/>
              </a:p>
            </p:txBody>
          </p:sp>
        </mc:Choice>
        <mc:Fallback>
          <p:sp>
            <p:nvSpPr>
              <p:cNvPr id="11" name="TextBox 10">
                <a:extLst>
                  <a:ext uri="{FF2B5EF4-FFF2-40B4-BE49-F238E27FC236}">
                    <a16:creationId xmlns:a16="http://schemas.microsoft.com/office/drawing/2014/main" id="{C6055ED6-2B7D-EEDD-A14E-47BCFAB75291}"/>
                  </a:ext>
                </a:extLst>
              </p:cNvPr>
              <p:cNvSpPr txBox="1">
                <a:spLocks noRot="1" noChangeAspect="1" noMove="1" noResize="1" noEditPoints="1" noAdjustHandles="1" noChangeArrowheads="1" noChangeShapeType="1" noTextEdit="1"/>
              </p:cNvSpPr>
              <p:nvPr/>
            </p:nvSpPr>
            <p:spPr>
              <a:xfrm>
                <a:off x="465273" y="4098664"/>
                <a:ext cx="10660828" cy="1200329"/>
              </a:xfrm>
              <a:prstGeom prst="rect">
                <a:avLst/>
              </a:prstGeom>
              <a:blipFill>
                <a:blip r:embed="rId2"/>
                <a:stretch>
                  <a:fillRect l="-476" t="-2083"/>
                </a:stretch>
              </a:blipFill>
            </p:spPr>
            <p:txBody>
              <a:bodyPr/>
              <a:lstStyle/>
              <a:p>
                <a:r>
                  <a:rPr lang="en-TR">
                    <a:noFill/>
                  </a:rPr>
                  <a:t> </a:t>
                </a:r>
              </a:p>
            </p:txBody>
          </p:sp>
        </mc:Fallback>
      </mc:AlternateContent>
      <p:pic>
        <p:nvPicPr>
          <p:cNvPr id="13" name="Picture 12" descr="A graph of a graph of a number of numbers&#10;&#10;AI-generated content may be incorrect.">
            <a:extLst>
              <a:ext uri="{FF2B5EF4-FFF2-40B4-BE49-F238E27FC236}">
                <a16:creationId xmlns:a16="http://schemas.microsoft.com/office/drawing/2014/main" id="{7F386B8F-C43D-F5B4-76A3-630C8F814E17}"/>
              </a:ext>
            </a:extLst>
          </p:cNvPr>
          <p:cNvPicPr>
            <a:picLocks noChangeAspect="1"/>
          </p:cNvPicPr>
          <p:nvPr/>
        </p:nvPicPr>
        <p:blipFill>
          <a:blip r:embed="rId3"/>
          <a:stretch>
            <a:fillRect/>
          </a:stretch>
        </p:blipFill>
        <p:spPr>
          <a:xfrm>
            <a:off x="465273" y="1225624"/>
            <a:ext cx="6794500" cy="2959100"/>
          </a:xfrm>
          <a:prstGeom prst="rect">
            <a:avLst/>
          </a:prstGeom>
        </p:spPr>
      </p:pic>
      <p:sp>
        <p:nvSpPr>
          <p:cNvPr id="17" name="TextBox 16">
            <a:extLst>
              <a:ext uri="{FF2B5EF4-FFF2-40B4-BE49-F238E27FC236}">
                <a16:creationId xmlns:a16="http://schemas.microsoft.com/office/drawing/2014/main" id="{03308E30-B256-3B77-AE8F-9C83A76F9452}"/>
              </a:ext>
            </a:extLst>
          </p:cNvPr>
          <p:cNvSpPr txBox="1"/>
          <p:nvPr/>
        </p:nvSpPr>
        <p:spPr>
          <a:xfrm>
            <a:off x="7421138" y="1671942"/>
            <a:ext cx="4584396" cy="1754326"/>
          </a:xfrm>
          <a:prstGeom prst="rect">
            <a:avLst/>
          </a:prstGeom>
          <a:noFill/>
        </p:spPr>
        <p:txBody>
          <a:bodyPr wrap="square">
            <a:spAutoFit/>
          </a:bodyPr>
          <a:lstStyle/>
          <a:p>
            <a:pPr marL="285750" indent="-285750">
              <a:buFont typeface="Arial" panose="020B0604020202020204" pitchFamily="34" charset="0"/>
              <a:buChar char="•"/>
            </a:pPr>
            <a:r>
              <a:rPr lang="en-US" dirty="0"/>
              <a:t>The attention score for head 0 from the token ‘=’ to ‘a’, as a function of inputs a, b. </a:t>
            </a:r>
          </a:p>
          <a:p>
            <a:pPr marL="285750" indent="-285750">
              <a:buFont typeface="Arial" panose="020B0604020202020204" pitchFamily="34" charset="0"/>
              <a:buChar char="•"/>
            </a:pPr>
            <a:r>
              <a:rPr lang="en-US" dirty="0"/>
              <a:t>The activations of MLP neuron 0 given inputs a, b. Both the attention scores and the neuron activations are periodic. </a:t>
            </a:r>
          </a:p>
          <a:p>
            <a:pPr marL="285750" indent="-285750">
              <a:buFont typeface="Arial" panose="020B0604020202020204" pitchFamily="34" charset="0"/>
              <a:buChar char="•"/>
            </a:pPr>
            <a:r>
              <a:rPr lang="en-TR" dirty="0"/>
              <a:t>Frequency domain</a:t>
            </a:r>
            <a:r>
              <a:rPr lang="en-US" dirty="0"/>
              <a:t>.</a:t>
            </a:r>
            <a:endParaRPr lang="en-TR" dirty="0"/>
          </a:p>
        </p:txBody>
      </p:sp>
      <p:pic>
        <p:nvPicPr>
          <p:cNvPr id="23" name="Picture 22" descr="A close-up of a word&#10;&#10;AI-generated content may be incorrect.">
            <a:extLst>
              <a:ext uri="{FF2B5EF4-FFF2-40B4-BE49-F238E27FC236}">
                <a16:creationId xmlns:a16="http://schemas.microsoft.com/office/drawing/2014/main" id="{7A0E875E-8B10-7099-1655-4D6ADF130EAD}"/>
              </a:ext>
            </a:extLst>
          </p:cNvPr>
          <p:cNvPicPr>
            <a:picLocks noChangeAspect="1"/>
          </p:cNvPicPr>
          <p:nvPr/>
        </p:nvPicPr>
        <p:blipFill>
          <a:blip r:embed="rId4"/>
          <a:stretch>
            <a:fillRect/>
          </a:stretch>
        </p:blipFill>
        <p:spPr>
          <a:xfrm>
            <a:off x="465273" y="5134118"/>
            <a:ext cx="3759200" cy="647700"/>
          </a:xfrm>
          <a:prstGeom prst="rect">
            <a:avLst/>
          </a:prstGeom>
        </p:spPr>
      </p:pic>
      <p:sp>
        <p:nvSpPr>
          <p:cNvPr id="24" name="TextBox 23">
            <a:extLst>
              <a:ext uri="{FF2B5EF4-FFF2-40B4-BE49-F238E27FC236}">
                <a16:creationId xmlns:a16="http://schemas.microsoft.com/office/drawing/2014/main" id="{C3EC62FA-8436-0AB5-30C1-097ECF9A4F88}"/>
              </a:ext>
            </a:extLst>
          </p:cNvPr>
          <p:cNvSpPr txBox="1"/>
          <p:nvPr/>
        </p:nvSpPr>
        <p:spPr>
          <a:xfrm>
            <a:off x="4713341" y="5298993"/>
            <a:ext cx="7013386" cy="369332"/>
          </a:xfrm>
          <a:prstGeom prst="rect">
            <a:avLst/>
          </a:prstGeom>
          <a:noFill/>
        </p:spPr>
        <p:txBody>
          <a:bodyPr wrap="square" rtlCol="0">
            <a:spAutoFit/>
          </a:bodyPr>
          <a:lstStyle/>
          <a:p>
            <a:r>
              <a:rPr lang="en-TR" dirty="0"/>
              <a:t>Detach removes it from the computation graph (backpropagation)</a:t>
            </a:r>
          </a:p>
        </p:txBody>
      </p:sp>
    </p:spTree>
    <p:extLst>
      <p:ext uri="{BB962C8B-B14F-4D97-AF65-F5344CB8AC3E}">
        <p14:creationId xmlns:p14="http://schemas.microsoft.com/office/powerpoint/2010/main" val="776400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80751-5114-FBA6-80B5-70A368BC440B}"/>
              </a:ext>
            </a:extLst>
          </p:cNvPr>
          <p:cNvSpPr>
            <a:spLocks noGrp="1"/>
          </p:cNvSpPr>
          <p:nvPr>
            <p:ph type="title"/>
          </p:nvPr>
        </p:nvSpPr>
        <p:spPr/>
        <p:txBody>
          <a:bodyPr>
            <a:normAutofit/>
          </a:bodyPr>
          <a:lstStyle/>
          <a:p>
            <a:r>
              <a:rPr lang="en-TR" sz="3200" dirty="0"/>
              <a:t>Embedding and Unembedding Matrices</a:t>
            </a:r>
          </a:p>
        </p:txBody>
      </p:sp>
      <p:sp>
        <p:nvSpPr>
          <p:cNvPr id="12" name="TextBox 11">
            <a:extLst>
              <a:ext uri="{FF2B5EF4-FFF2-40B4-BE49-F238E27FC236}">
                <a16:creationId xmlns:a16="http://schemas.microsoft.com/office/drawing/2014/main" id="{035539FF-BA5A-5434-2321-A6C1210D84AD}"/>
              </a:ext>
            </a:extLst>
          </p:cNvPr>
          <p:cNvSpPr txBox="1"/>
          <p:nvPr/>
        </p:nvSpPr>
        <p:spPr>
          <a:xfrm>
            <a:off x="526474" y="3900989"/>
            <a:ext cx="10363851" cy="1169551"/>
          </a:xfrm>
          <a:prstGeom prst="rect">
            <a:avLst/>
          </a:prstGeom>
          <a:noFill/>
        </p:spPr>
        <p:txBody>
          <a:bodyPr wrap="square" rtlCol="0">
            <a:spAutoFit/>
          </a:bodyPr>
          <a:lstStyle/>
          <a:p>
            <a:r>
              <a:rPr lang="en-US" sz="1400" dirty="0"/>
              <a:t>The norms of the Fourier components in the embedding matrix WE. As discussed in Section 4.1, the sparsity of WE in the Fourier basis is evidence that the network is operating in this basis. Of the six non-zero frequencies, five “key frequencies” appear in later parts of the network, corresponding to k ∈ {14, 35, 41, 42, 52}. (Right) Norm of Fourier components of the neuron-logit map WL. A Fourier transform is taken over the logit axis, and then the norm is taken over the neuron axis. As discussed in Section 4.2, WL is well-approximated by the 5 key frequencies wk.</a:t>
            </a:r>
            <a:endParaRPr lang="en-TR" sz="1400" dirty="0"/>
          </a:p>
        </p:txBody>
      </p:sp>
      <p:pic>
        <p:nvPicPr>
          <p:cNvPr id="18" name="Content Placeholder 17" descr="A close-up of a graph&#10;&#10;AI-generated content may be incorrect.">
            <a:extLst>
              <a:ext uri="{FF2B5EF4-FFF2-40B4-BE49-F238E27FC236}">
                <a16:creationId xmlns:a16="http://schemas.microsoft.com/office/drawing/2014/main" id="{E3922381-E154-0CA8-21C1-2F3270B0C0A5}"/>
              </a:ext>
            </a:extLst>
          </p:cNvPr>
          <p:cNvPicPr>
            <a:picLocks noGrp="1" noChangeAspect="1"/>
          </p:cNvPicPr>
          <p:nvPr>
            <p:ph idx="1"/>
          </p:nvPr>
        </p:nvPicPr>
        <p:blipFill>
          <a:blip r:embed="rId2"/>
          <a:stretch>
            <a:fillRect/>
          </a:stretch>
        </p:blipFill>
        <p:spPr>
          <a:xfrm>
            <a:off x="526474" y="1311305"/>
            <a:ext cx="8983286" cy="2490185"/>
          </a:xfrm>
        </p:spPr>
      </p:pic>
    </p:spTree>
    <p:extLst>
      <p:ext uri="{BB962C8B-B14F-4D97-AF65-F5344CB8AC3E}">
        <p14:creationId xmlns:p14="http://schemas.microsoft.com/office/powerpoint/2010/main" val="18086563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E382A-730B-8C25-3A17-414AA43B4B84}"/>
              </a:ext>
            </a:extLst>
          </p:cNvPr>
          <p:cNvSpPr>
            <a:spLocks noGrp="1"/>
          </p:cNvSpPr>
          <p:nvPr>
            <p:ph type="title"/>
          </p:nvPr>
        </p:nvSpPr>
        <p:spPr/>
        <p:txBody>
          <a:bodyPr>
            <a:normAutofit/>
          </a:bodyPr>
          <a:lstStyle/>
          <a:p>
            <a:r>
              <a:rPr lang="en-TR" sz="3200" dirty="0"/>
              <a:t>Mechanistic Evidence</a:t>
            </a:r>
          </a:p>
        </p:txBody>
      </p:sp>
      <p:sp>
        <p:nvSpPr>
          <p:cNvPr id="3" name="Content Placeholder 2">
            <a:extLst>
              <a:ext uri="{FF2B5EF4-FFF2-40B4-BE49-F238E27FC236}">
                <a16:creationId xmlns:a16="http://schemas.microsoft.com/office/drawing/2014/main" id="{5A944D5E-6889-F1AF-DF89-75A732D052E2}"/>
              </a:ext>
            </a:extLst>
          </p:cNvPr>
          <p:cNvSpPr>
            <a:spLocks noGrp="1"/>
          </p:cNvSpPr>
          <p:nvPr>
            <p:ph idx="1"/>
          </p:nvPr>
        </p:nvSpPr>
        <p:spPr/>
        <p:txBody>
          <a:bodyPr>
            <a:normAutofit/>
          </a:bodyPr>
          <a:lstStyle/>
          <a:p>
            <a:r>
              <a:rPr lang="en-TR" sz="1800" dirty="0"/>
              <a:t>Claim:</a:t>
            </a:r>
            <a:r>
              <a:rPr lang="en-US" sz="1800" dirty="0"/>
              <a:t>The functions cos (</a:t>
            </a:r>
            <a:r>
              <a:rPr lang="en-US" sz="1800" dirty="0" err="1"/>
              <a:t>wk</a:t>
            </a:r>
            <a:r>
              <a:rPr lang="en-US" sz="1800" dirty="0"/>
              <a:t>(a + b)), sin (</a:t>
            </a:r>
            <a:r>
              <a:rPr lang="en-US" sz="1800" dirty="0" err="1"/>
              <a:t>wk</a:t>
            </a:r>
            <a:r>
              <a:rPr lang="en-US" sz="1800" dirty="0"/>
              <a:t>(a + b)) are linearly represented in the MLP activations, and the unembed matrix reads these linear directions and multiplies them by cos (</a:t>
            </a:r>
            <a:r>
              <a:rPr lang="en-US" sz="1800" dirty="0" err="1"/>
              <a:t>wkc</a:t>
            </a:r>
            <a:r>
              <a:rPr lang="en-US" sz="1800" dirty="0"/>
              <a:t>), sin (</a:t>
            </a:r>
            <a:r>
              <a:rPr lang="en-US" sz="1800" dirty="0" err="1"/>
              <a:t>wkc</a:t>
            </a:r>
            <a:r>
              <a:rPr lang="en-US" sz="1800" dirty="0"/>
              <a:t>) respectively</a:t>
            </a:r>
            <a:endParaRPr lang="en-TR" sz="1800" dirty="0"/>
          </a:p>
        </p:txBody>
      </p:sp>
      <p:pic>
        <p:nvPicPr>
          <p:cNvPr id="7" name="Picture 6" descr="A math equations and numbers&#10;&#10;AI-generated content may be incorrect.">
            <a:extLst>
              <a:ext uri="{FF2B5EF4-FFF2-40B4-BE49-F238E27FC236}">
                <a16:creationId xmlns:a16="http://schemas.microsoft.com/office/drawing/2014/main" id="{8805B4EE-151F-F92B-686A-9EFD29F7EBF7}"/>
              </a:ext>
            </a:extLst>
          </p:cNvPr>
          <p:cNvPicPr>
            <a:picLocks noChangeAspect="1"/>
          </p:cNvPicPr>
          <p:nvPr/>
        </p:nvPicPr>
        <p:blipFill>
          <a:blip r:embed="rId2"/>
          <a:stretch>
            <a:fillRect/>
          </a:stretch>
        </p:blipFill>
        <p:spPr>
          <a:xfrm>
            <a:off x="1041189" y="2809586"/>
            <a:ext cx="6208780" cy="2048741"/>
          </a:xfrm>
          <a:prstGeom prst="rect">
            <a:avLst/>
          </a:prstGeom>
        </p:spPr>
      </p:pic>
    </p:spTree>
    <p:extLst>
      <p:ext uri="{BB962C8B-B14F-4D97-AF65-F5344CB8AC3E}">
        <p14:creationId xmlns:p14="http://schemas.microsoft.com/office/powerpoint/2010/main" val="4110007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C2E57-3B2B-54E4-D5A4-EFF0373BDF25}"/>
              </a:ext>
            </a:extLst>
          </p:cNvPr>
          <p:cNvSpPr>
            <a:spLocks noGrp="1"/>
          </p:cNvSpPr>
          <p:nvPr>
            <p:ph type="title"/>
          </p:nvPr>
        </p:nvSpPr>
        <p:spPr/>
        <p:txBody>
          <a:bodyPr>
            <a:normAutofit/>
          </a:bodyPr>
          <a:lstStyle/>
          <a:p>
            <a:r>
              <a:rPr lang="en-TR" sz="2800" dirty="0"/>
              <a:t>A Mathematical Framework for Transformers</a:t>
            </a:r>
          </a:p>
        </p:txBody>
      </p:sp>
      <p:pic>
        <p:nvPicPr>
          <p:cNvPr id="5" name="Content Placeholder 4" descr="A screenshot of a math problem&#10;&#10;AI-generated content may be incorrect.">
            <a:extLst>
              <a:ext uri="{FF2B5EF4-FFF2-40B4-BE49-F238E27FC236}">
                <a16:creationId xmlns:a16="http://schemas.microsoft.com/office/drawing/2014/main" id="{CF5B4EC6-CBDC-1521-0811-8095E39E1724}"/>
              </a:ext>
            </a:extLst>
          </p:cNvPr>
          <p:cNvPicPr>
            <a:picLocks noGrp="1" noChangeAspect="1"/>
          </p:cNvPicPr>
          <p:nvPr>
            <p:ph idx="1"/>
          </p:nvPr>
        </p:nvPicPr>
        <p:blipFill>
          <a:blip r:embed="rId2"/>
          <a:stretch>
            <a:fillRect/>
          </a:stretch>
        </p:blipFill>
        <p:spPr>
          <a:xfrm>
            <a:off x="406010" y="1462087"/>
            <a:ext cx="8186838" cy="4351338"/>
          </a:xfrm>
        </p:spPr>
      </p:pic>
      <p:sp>
        <p:nvSpPr>
          <p:cNvPr id="7" name="TextBox 6">
            <a:extLst>
              <a:ext uri="{FF2B5EF4-FFF2-40B4-BE49-F238E27FC236}">
                <a16:creationId xmlns:a16="http://schemas.microsoft.com/office/drawing/2014/main" id="{1B0C3264-CD3E-E525-6ABE-9D18CA6F623C}"/>
              </a:ext>
            </a:extLst>
          </p:cNvPr>
          <p:cNvSpPr txBox="1"/>
          <p:nvPr/>
        </p:nvSpPr>
        <p:spPr>
          <a:xfrm>
            <a:off x="829324" y="5380672"/>
            <a:ext cx="6096000" cy="1477328"/>
          </a:xfrm>
          <a:prstGeom prst="rect">
            <a:avLst/>
          </a:prstGeom>
          <a:noFill/>
        </p:spPr>
        <p:txBody>
          <a:bodyPr wrap="square">
            <a:spAutoFit/>
          </a:bodyPr>
          <a:lstStyle/>
          <a:p>
            <a:r>
              <a:rPr lang="en-US" b="0" i="0" dirty="0">
                <a:effectLst/>
                <a:latin typeface="-apple-system"/>
              </a:rPr>
              <a:t>This ignores the layer normalization at the start of each layer, but up to a constant scalar, the layer normalization is a constant affine transformation and can be folded into the linear transformation. See discussion of how we handle layer normalization in the appendix.</a:t>
            </a:r>
            <a:endParaRPr lang="en-TR" dirty="0"/>
          </a:p>
        </p:txBody>
      </p:sp>
      <p:sp>
        <p:nvSpPr>
          <p:cNvPr id="9" name="TextBox 8">
            <a:extLst>
              <a:ext uri="{FF2B5EF4-FFF2-40B4-BE49-F238E27FC236}">
                <a16:creationId xmlns:a16="http://schemas.microsoft.com/office/drawing/2014/main" id="{234DBA34-120B-97DF-503E-BF60BDF534D4}"/>
              </a:ext>
            </a:extLst>
          </p:cNvPr>
          <p:cNvSpPr txBox="1"/>
          <p:nvPr/>
        </p:nvSpPr>
        <p:spPr>
          <a:xfrm>
            <a:off x="7475247" y="417512"/>
            <a:ext cx="4310743" cy="1754326"/>
          </a:xfrm>
          <a:prstGeom prst="rect">
            <a:avLst/>
          </a:prstGeom>
          <a:noFill/>
        </p:spPr>
        <p:txBody>
          <a:bodyPr wrap="square">
            <a:spAutoFit/>
          </a:bodyPr>
          <a:lstStyle/>
          <a:p>
            <a:r>
              <a:rPr lang="en-US" b="0" i="0" dirty="0">
                <a:effectLst/>
                <a:latin typeface="-apple-system"/>
              </a:rPr>
              <a:t>The residual stream is simply the sum of the output of all the previous layers and the original embedding. We generally think of the residual stream as a communication channel, since it doesn't do any processing itself and all layers communicate through it.</a:t>
            </a:r>
            <a:endParaRPr lang="en-TR" dirty="0"/>
          </a:p>
        </p:txBody>
      </p:sp>
    </p:spTree>
    <p:extLst>
      <p:ext uri="{BB962C8B-B14F-4D97-AF65-F5344CB8AC3E}">
        <p14:creationId xmlns:p14="http://schemas.microsoft.com/office/powerpoint/2010/main" val="4009268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6C44B-CD63-7E65-00A5-7AD22778EC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4209BD-5B5A-F76F-9755-C969F49C9177}"/>
              </a:ext>
            </a:extLst>
          </p:cNvPr>
          <p:cNvSpPr>
            <a:spLocks noGrp="1"/>
          </p:cNvSpPr>
          <p:nvPr>
            <p:ph type="title"/>
          </p:nvPr>
        </p:nvSpPr>
        <p:spPr/>
        <p:txBody>
          <a:bodyPr/>
          <a:lstStyle/>
          <a:p>
            <a:r>
              <a:rPr lang="en-TR" dirty="0"/>
              <a:t>Table of Contents</a:t>
            </a:r>
          </a:p>
        </p:txBody>
      </p:sp>
      <p:sp>
        <p:nvSpPr>
          <p:cNvPr id="3" name="Content Placeholder 2">
            <a:extLst>
              <a:ext uri="{FF2B5EF4-FFF2-40B4-BE49-F238E27FC236}">
                <a16:creationId xmlns:a16="http://schemas.microsoft.com/office/drawing/2014/main" id="{95EE08E7-5EFD-7B59-66D1-D9616C014CA7}"/>
              </a:ext>
            </a:extLst>
          </p:cNvPr>
          <p:cNvSpPr>
            <a:spLocks noGrp="1"/>
          </p:cNvSpPr>
          <p:nvPr>
            <p:ph idx="1"/>
          </p:nvPr>
        </p:nvSpPr>
        <p:spPr/>
        <p:txBody>
          <a:bodyPr/>
          <a:lstStyle/>
          <a:p>
            <a:r>
              <a:rPr lang="en-TR" dirty="0"/>
              <a:t>AI Explainability – Mechanistic Interpretability</a:t>
            </a:r>
          </a:p>
          <a:p>
            <a:r>
              <a:rPr lang="en-TR" dirty="0"/>
              <a:t>A simple transformer example to show w</a:t>
            </a:r>
            <a:r>
              <a:rPr lang="en-US" dirty="0"/>
              <a:t>ha</a:t>
            </a:r>
            <a:r>
              <a:rPr lang="en-TR" dirty="0"/>
              <a:t>t is the possibility</a:t>
            </a:r>
          </a:p>
          <a:p>
            <a:r>
              <a:rPr lang="en-TR" dirty="0"/>
              <a:t>Financial time series</a:t>
            </a:r>
          </a:p>
          <a:p>
            <a:endParaRPr lang="en-TR" dirty="0"/>
          </a:p>
          <a:p>
            <a:endParaRPr lang="en-TR" dirty="0"/>
          </a:p>
          <a:p>
            <a:endParaRPr lang="en-TR" dirty="0"/>
          </a:p>
        </p:txBody>
      </p:sp>
    </p:spTree>
    <p:extLst>
      <p:ext uri="{BB962C8B-B14F-4D97-AF65-F5344CB8AC3E}">
        <p14:creationId xmlns:p14="http://schemas.microsoft.com/office/powerpoint/2010/main" val="1799543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E2F43-3325-F706-E028-1DE7C76AC57C}"/>
              </a:ext>
            </a:extLst>
          </p:cNvPr>
          <p:cNvSpPr>
            <a:spLocks noGrp="1"/>
          </p:cNvSpPr>
          <p:nvPr>
            <p:ph type="title"/>
          </p:nvPr>
        </p:nvSpPr>
        <p:spPr/>
        <p:txBody>
          <a:bodyPr/>
          <a:lstStyle/>
          <a:p>
            <a:endParaRPr lang="en-TR"/>
          </a:p>
        </p:txBody>
      </p:sp>
      <p:sp>
        <p:nvSpPr>
          <p:cNvPr id="3" name="Content Placeholder 2">
            <a:extLst>
              <a:ext uri="{FF2B5EF4-FFF2-40B4-BE49-F238E27FC236}">
                <a16:creationId xmlns:a16="http://schemas.microsoft.com/office/drawing/2014/main" id="{DC92A26B-055C-3A23-4BA9-5087AA4B1509}"/>
              </a:ext>
            </a:extLst>
          </p:cNvPr>
          <p:cNvSpPr>
            <a:spLocks noGrp="1"/>
          </p:cNvSpPr>
          <p:nvPr>
            <p:ph idx="1"/>
          </p:nvPr>
        </p:nvSpPr>
        <p:spPr/>
        <p:txBody>
          <a:bodyPr>
            <a:normAutofit/>
          </a:bodyPr>
          <a:lstStyle/>
          <a:p>
            <a:r>
              <a:rPr lang="en-US" sz="1800" dirty="0"/>
              <a:t>Both the attention and MLP layers each “read” their input from the residual stream (by performing a linear projection), and then “write” their result to the residual stream by adding a linear projection back in. Each attention layer consists of multiple heads, which operate in parallel.</a:t>
            </a:r>
            <a:endParaRPr lang="en-TR" sz="1800" dirty="0"/>
          </a:p>
        </p:txBody>
      </p:sp>
      <p:pic>
        <p:nvPicPr>
          <p:cNvPr id="5" name="Picture 4" descr="A screenshot of a math problem&#10;&#10;AI-generated content may be incorrect.">
            <a:extLst>
              <a:ext uri="{FF2B5EF4-FFF2-40B4-BE49-F238E27FC236}">
                <a16:creationId xmlns:a16="http://schemas.microsoft.com/office/drawing/2014/main" id="{B62633D9-077C-4FFC-574C-04C0879EC86C}"/>
              </a:ext>
            </a:extLst>
          </p:cNvPr>
          <p:cNvPicPr>
            <a:picLocks noChangeAspect="1"/>
          </p:cNvPicPr>
          <p:nvPr/>
        </p:nvPicPr>
        <p:blipFill>
          <a:blip r:embed="rId2"/>
          <a:stretch>
            <a:fillRect/>
          </a:stretch>
        </p:blipFill>
        <p:spPr>
          <a:xfrm>
            <a:off x="838200" y="2921000"/>
            <a:ext cx="6286500" cy="3390900"/>
          </a:xfrm>
          <a:prstGeom prst="rect">
            <a:avLst/>
          </a:prstGeom>
        </p:spPr>
      </p:pic>
      <p:sp>
        <p:nvSpPr>
          <p:cNvPr id="7" name="TextBox 6">
            <a:extLst>
              <a:ext uri="{FF2B5EF4-FFF2-40B4-BE49-F238E27FC236}">
                <a16:creationId xmlns:a16="http://schemas.microsoft.com/office/drawing/2014/main" id="{25EDFD66-FB16-F003-FBEA-48863A41AB6C}"/>
              </a:ext>
            </a:extLst>
          </p:cNvPr>
          <p:cNvSpPr txBox="1"/>
          <p:nvPr/>
        </p:nvSpPr>
        <p:spPr>
          <a:xfrm>
            <a:off x="7647213" y="2769790"/>
            <a:ext cx="3456215" cy="3693319"/>
          </a:xfrm>
          <a:prstGeom prst="rect">
            <a:avLst/>
          </a:prstGeom>
          <a:noFill/>
        </p:spPr>
        <p:txBody>
          <a:bodyPr wrap="square">
            <a:spAutoFit/>
          </a:bodyPr>
          <a:lstStyle/>
          <a:p>
            <a:r>
              <a:rPr lang="en-US" b="0" i="0" dirty="0">
                <a:effectLst/>
                <a:latin typeface="-apple-system"/>
              </a:rPr>
              <a:t>One of the main features of the high level architecture of a transformer is that each layer adds its results into what we call the “residual stream.”</a:t>
            </a:r>
            <a:r>
              <a:rPr lang="en-US" dirty="0"/>
              <a:t> </a:t>
            </a:r>
            <a:r>
              <a:rPr lang="en-US" baseline="30000" dirty="0">
                <a:effectLst/>
              </a:rPr>
              <a:t>2 </a:t>
            </a:r>
            <a:r>
              <a:rPr lang="en-US" b="0" i="0" dirty="0">
                <a:effectLst/>
                <a:latin typeface="-apple-system"/>
              </a:rPr>
              <a:t>The residual stream is simply the sum of the output of all the previous layers and the original embedding. We generally think of the residual stream as a communication channel, since it doesn't do any processing itself and all layers communicate through it.</a:t>
            </a:r>
            <a:endParaRPr lang="en-TR" dirty="0"/>
          </a:p>
        </p:txBody>
      </p:sp>
    </p:spTree>
    <p:extLst>
      <p:ext uri="{BB962C8B-B14F-4D97-AF65-F5344CB8AC3E}">
        <p14:creationId xmlns:p14="http://schemas.microsoft.com/office/powerpoint/2010/main" val="3924158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AB97E-568C-5F19-A979-BED8AF262506}"/>
              </a:ext>
            </a:extLst>
          </p:cNvPr>
          <p:cNvSpPr>
            <a:spLocks noGrp="1"/>
          </p:cNvSpPr>
          <p:nvPr>
            <p:ph type="title"/>
          </p:nvPr>
        </p:nvSpPr>
        <p:spPr/>
        <p:txBody>
          <a:bodyPr/>
          <a:lstStyle/>
          <a:p>
            <a:endParaRPr lang="en-TR"/>
          </a:p>
        </p:txBody>
      </p:sp>
      <p:sp>
        <p:nvSpPr>
          <p:cNvPr id="3" name="Content Placeholder 2">
            <a:extLst>
              <a:ext uri="{FF2B5EF4-FFF2-40B4-BE49-F238E27FC236}">
                <a16:creationId xmlns:a16="http://schemas.microsoft.com/office/drawing/2014/main" id="{251DD2B4-EA7B-8B02-63ED-5ECF2999BF08}"/>
              </a:ext>
            </a:extLst>
          </p:cNvPr>
          <p:cNvSpPr>
            <a:spLocks noGrp="1"/>
          </p:cNvSpPr>
          <p:nvPr>
            <p:ph idx="1"/>
          </p:nvPr>
        </p:nvSpPr>
        <p:spPr/>
        <p:txBody>
          <a:bodyPr>
            <a:normAutofit fontScale="70000" lnSpcReduction="20000"/>
          </a:bodyPr>
          <a:lstStyle/>
          <a:p>
            <a:r>
              <a:rPr lang="en-US" sz="1400" dirty="0"/>
              <a:t>The residual stream has a deeply linear structure. </a:t>
            </a:r>
            <a:r>
              <a:rPr lang="en-US" sz="1400" baseline="30000" dirty="0">
                <a:effectLst/>
              </a:rPr>
              <a:t>3 </a:t>
            </a:r>
            <a:r>
              <a:rPr lang="en-US" sz="1400" dirty="0"/>
              <a:t>Every layer performs an arbitrary linear transformation to "read in" information from the residual stream at the start, </a:t>
            </a:r>
            <a:r>
              <a:rPr lang="en-US" sz="1400" baseline="30000" dirty="0">
                <a:effectLst/>
              </a:rPr>
              <a:t>4 </a:t>
            </a:r>
            <a:r>
              <a:rPr lang="en-US" sz="1400" dirty="0"/>
              <a:t>and performs another arbitrary linear transformation before adding to "write" its output back into the residual stream. This linear, additive structure of the residual stream has a lot of important implications. One basic consequence is that the residual stream doesn't have a </a:t>
            </a:r>
            <a:r>
              <a:rPr lang="en-US" sz="1400" dirty="0">
                <a:hlinkClick r:id="rId2"/>
              </a:rPr>
              <a:t>"privileged basis"</a:t>
            </a:r>
            <a:r>
              <a:rPr lang="en-US" sz="1400" dirty="0"/>
              <a:t>; we could rotate it by rotating all the matrices interacting with it, without changing model behavior.</a:t>
            </a:r>
          </a:p>
          <a:p>
            <a:endParaRPr lang="en-US" sz="1400" dirty="0"/>
          </a:p>
          <a:p>
            <a:r>
              <a:rPr lang="en-US" b="1" dirty="0"/>
              <a:t>Privileged Basis vs Basis Free</a:t>
            </a:r>
            <a:r>
              <a:rPr lang="en-US" dirty="0"/>
              <a:t>: A privileged basis occurs when some aspect of a model’s architecture encourages neural network features to align with basis dimensions, for example because of a sparse activation function such as </a:t>
            </a:r>
            <a:r>
              <a:rPr lang="en-US" dirty="0" err="1"/>
              <a:t>ReLU</a:t>
            </a:r>
            <a:r>
              <a:rPr lang="en-US" dirty="0"/>
              <a:t>. In a transformer, the only vectors with privileged bases are tokens, attention patterns and MLP activations. See the appendix table of variables for a full list of which activations have or don’t have privileged activations.</a:t>
            </a:r>
          </a:p>
          <a:p>
            <a:r>
              <a:rPr lang="en-US" dirty="0"/>
              <a:t>Some types of interpretability only make sense for activations with a privileged basis. For example, it doesn't really make sense to look at the "neurons" (</a:t>
            </a:r>
            <a:r>
              <a:rPr lang="en-US" dirty="0" err="1"/>
              <a:t>ie</a:t>
            </a:r>
            <a:r>
              <a:rPr lang="en-US" dirty="0"/>
              <a:t>. basis dimensions) of activations like the residual stream, keys, queries or values, which don't have a privileged basis. This isn't to say that there aren't ways to study them; a lot of interesting work is done on word embeddings without assuming a privileged basis (</a:t>
            </a:r>
            <a:r>
              <a:rPr lang="en-US" i="1" dirty="0"/>
              <a:t>e.g.</a:t>
            </a:r>
            <a:r>
              <a:rPr lang="en-US" dirty="0"/>
              <a:t> </a:t>
            </a:r>
          </a:p>
          <a:p>
            <a:r>
              <a:rPr lang="en-US" dirty="0"/>
              <a:t>[11]</a:t>
            </a:r>
            <a:endParaRPr lang="en-US" sz="1400" dirty="0">
              <a:effectLst/>
            </a:endParaRPr>
          </a:p>
          <a:p>
            <a:r>
              <a:rPr lang="en-US" sz="1400" dirty="0"/>
              <a:t>). But having a privileged basis does open up helpful approaches.</a:t>
            </a:r>
            <a:endParaRPr lang="en-TR" sz="1400" dirty="0"/>
          </a:p>
        </p:txBody>
      </p:sp>
    </p:spTree>
    <p:extLst>
      <p:ext uri="{BB962C8B-B14F-4D97-AF65-F5344CB8AC3E}">
        <p14:creationId xmlns:p14="http://schemas.microsoft.com/office/powerpoint/2010/main" val="381637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F99FF-4692-AA8A-BB7F-2179BD23D2A9}"/>
              </a:ext>
            </a:extLst>
          </p:cNvPr>
          <p:cNvSpPr>
            <a:spLocks noGrp="1"/>
          </p:cNvSpPr>
          <p:nvPr>
            <p:ph type="title"/>
          </p:nvPr>
        </p:nvSpPr>
        <p:spPr/>
        <p:txBody>
          <a:bodyPr/>
          <a:lstStyle/>
          <a:p>
            <a:endParaRPr lang="en-TR"/>
          </a:p>
        </p:txBody>
      </p:sp>
      <p:pic>
        <p:nvPicPr>
          <p:cNvPr id="5" name="Content Placeholder 4">
            <a:extLst>
              <a:ext uri="{FF2B5EF4-FFF2-40B4-BE49-F238E27FC236}">
                <a16:creationId xmlns:a16="http://schemas.microsoft.com/office/drawing/2014/main" id="{95CFEAD0-64D2-F649-E50A-26A62ADFF7FF}"/>
              </a:ext>
            </a:extLst>
          </p:cNvPr>
          <p:cNvPicPr>
            <a:picLocks noGrp="1" noChangeAspect="1"/>
          </p:cNvPicPr>
          <p:nvPr>
            <p:ph idx="1"/>
          </p:nvPr>
        </p:nvPicPr>
        <p:blipFill>
          <a:blip r:embed="rId2"/>
          <a:stretch>
            <a:fillRect/>
          </a:stretch>
        </p:blipFill>
        <p:spPr>
          <a:xfrm>
            <a:off x="213756" y="1027906"/>
            <a:ext cx="6109812" cy="5061306"/>
          </a:xfrm>
        </p:spPr>
      </p:pic>
      <p:pic>
        <p:nvPicPr>
          <p:cNvPr id="7" name="Picture 6">
            <a:extLst>
              <a:ext uri="{FF2B5EF4-FFF2-40B4-BE49-F238E27FC236}">
                <a16:creationId xmlns:a16="http://schemas.microsoft.com/office/drawing/2014/main" id="{F0A973A2-BB1D-0957-94B8-7C84469C1B15}"/>
              </a:ext>
            </a:extLst>
          </p:cNvPr>
          <p:cNvPicPr>
            <a:picLocks noChangeAspect="1"/>
          </p:cNvPicPr>
          <p:nvPr/>
        </p:nvPicPr>
        <p:blipFill>
          <a:blip r:embed="rId3"/>
          <a:stretch>
            <a:fillRect/>
          </a:stretch>
        </p:blipFill>
        <p:spPr>
          <a:xfrm>
            <a:off x="3416300" y="2641600"/>
            <a:ext cx="5359400" cy="1574800"/>
          </a:xfrm>
          <a:prstGeom prst="rect">
            <a:avLst/>
          </a:prstGeom>
        </p:spPr>
      </p:pic>
    </p:spTree>
    <p:extLst>
      <p:ext uri="{BB962C8B-B14F-4D97-AF65-F5344CB8AC3E}">
        <p14:creationId xmlns:p14="http://schemas.microsoft.com/office/powerpoint/2010/main" val="1060872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18FA3-5077-8843-DBE6-5C72E0F312DC}"/>
              </a:ext>
            </a:extLst>
          </p:cNvPr>
          <p:cNvSpPr>
            <a:spLocks noGrp="1"/>
          </p:cNvSpPr>
          <p:nvPr>
            <p:ph type="title"/>
          </p:nvPr>
        </p:nvSpPr>
        <p:spPr/>
        <p:txBody>
          <a:bodyPr/>
          <a:lstStyle/>
          <a:p>
            <a:endParaRPr lang="en-TR"/>
          </a:p>
        </p:txBody>
      </p:sp>
      <p:sp>
        <p:nvSpPr>
          <p:cNvPr id="3" name="Content Placeholder 2">
            <a:extLst>
              <a:ext uri="{FF2B5EF4-FFF2-40B4-BE49-F238E27FC236}">
                <a16:creationId xmlns:a16="http://schemas.microsoft.com/office/drawing/2014/main" id="{81B14A77-40EE-98E5-7715-B21A87CDD136}"/>
              </a:ext>
            </a:extLst>
          </p:cNvPr>
          <p:cNvSpPr>
            <a:spLocks noGrp="1"/>
          </p:cNvSpPr>
          <p:nvPr>
            <p:ph idx="1"/>
          </p:nvPr>
        </p:nvSpPr>
        <p:spPr/>
        <p:txBody>
          <a:bodyPr/>
          <a:lstStyle/>
          <a:p>
            <a:r>
              <a:rPr lang="en-TR" dirty="0"/>
              <a:t>Attention Heads are Independent and Additive</a:t>
            </a:r>
          </a:p>
          <a:p>
            <a:r>
              <a:rPr lang="en-TR" dirty="0"/>
              <a:t>Attention Heads as Information Movements</a:t>
            </a:r>
          </a:p>
        </p:txBody>
      </p:sp>
      <p:pic>
        <p:nvPicPr>
          <p:cNvPr id="5" name="Picture 4" descr="A screenshot of a computer&#10;&#10;AI-generated content may be incorrect.">
            <a:extLst>
              <a:ext uri="{FF2B5EF4-FFF2-40B4-BE49-F238E27FC236}">
                <a16:creationId xmlns:a16="http://schemas.microsoft.com/office/drawing/2014/main" id="{D3E888A7-9186-07B2-43A5-933AE10DF6D8}"/>
              </a:ext>
            </a:extLst>
          </p:cNvPr>
          <p:cNvPicPr>
            <a:picLocks noChangeAspect="1"/>
          </p:cNvPicPr>
          <p:nvPr/>
        </p:nvPicPr>
        <p:blipFill>
          <a:blip r:embed="rId2"/>
          <a:stretch>
            <a:fillRect/>
          </a:stretch>
        </p:blipFill>
        <p:spPr>
          <a:xfrm>
            <a:off x="2103665" y="2180092"/>
            <a:ext cx="7302694" cy="3996871"/>
          </a:xfrm>
          <a:prstGeom prst="rect">
            <a:avLst/>
          </a:prstGeom>
        </p:spPr>
      </p:pic>
    </p:spTree>
    <p:extLst>
      <p:ext uri="{BB962C8B-B14F-4D97-AF65-F5344CB8AC3E}">
        <p14:creationId xmlns:p14="http://schemas.microsoft.com/office/powerpoint/2010/main" val="10803188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7804C-E7F6-239C-D7D0-E7FF6BD6992F}"/>
              </a:ext>
            </a:extLst>
          </p:cNvPr>
          <p:cNvSpPr>
            <a:spLocks noGrp="1"/>
          </p:cNvSpPr>
          <p:nvPr>
            <p:ph type="title"/>
          </p:nvPr>
        </p:nvSpPr>
        <p:spPr/>
        <p:txBody>
          <a:bodyPr/>
          <a:lstStyle/>
          <a:p>
            <a:endParaRPr lang="en-TR"/>
          </a:p>
        </p:txBody>
      </p:sp>
      <p:sp>
        <p:nvSpPr>
          <p:cNvPr id="3" name="Content Placeholder 2">
            <a:extLst>
              <a:ext uri="{FF2B5EF4-FFF2-40B4-BE49-F238E27FC236}">
                <a16:creationId xmlns:a16="http://schemas.microsoft.com/office/drawing/2014/main" id="{D7BC19B3-2F9C-A613-DFB8-530EF60738E9}"/>
              </a:ext>
            </a:extLst>
          </p:cNvPr>
          <p:cNvSpPr>
            <a:spLocks noGrp="1"/>
          </p:cNvSpPr>
          <p:nvPr>
            <p:ph idx="1"/>
          </p:nvPr>
        </p:nvSpPr>
        <p:spPr/>
        <p:txBody>
          <a:bodyPr/>
          <a:lstStyle/>
          <a:p>
            <a:endParaRPr lang="en-TR"/>
          </a:p>
        </p:txBody>
      </p:sp>
    </p:spTree>
    <p:extLst>
      <p:ext uri="{BB962C8B-B14F-4D97-AF65-F5344CB8AC3E}">
        <p14:creationId xmlns:p14="http://schemas.microsoft.com/office/powerpoint/2010/main" val="1749500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0B333-D270-CFEA-D2F4-58DE2914048E}"/>
              </a:ext>
            </a:extLst>
          </p:cNvPr>
          <p:cNvSpPr>
            <a:spLocks noGrp="1"/>
          </p:cNvSpPr>
          <p:nvPr>
            <p:ph type="title"/>
          </p:nvPr>
        </p:nvSpPr>
        <p:spPr/>
        <p:txBody>
          <a:bodyPr/>
          <a:lstStyle/>
          <a:p>
            <a:endParaRPr lang="en-TR"/>
          </a:p>
        </p:txBody>
      </p:sp>
      <p:sp>
        <p:nvSpPr>
          <p:cNvPr id="3" name="Content Placeholder 2">
            <a:extLst>
              <a:ext uri="{FF2B5EF4-FFF2-40B4-BE49-F238E27FC236}">
                <a16:creationId xmlns:a16="http://schemas.microsoft.com/office/drawing/2014/main" id="{B6F0CD99-5FB5-0DE1-CD3F-4BA20266E4B5}"/>
              </a:ext>
            </a:extLst>
          </p:cNvPr>
          <p:cNvSpPr>
            <a:spLocks noGrp="1"/>
          </p:cNvSpPr>
          <p:nvPr>
            <p:ph idx="1"/>
          </p:nvPr>
        </p:nvSpPr>
        <p:spPr/>
        <p:txBody>
          <a:bodyPr/>
          <a:lstStyle/>
          <a:p>
            <a:endParaRPr lang="en-TR"/>
          </a:p>
        </p:txBody>
      </p:sp>
    </p:spTree>
    <p:extLst>
      <p:ext uri="{BB962C8B-B14F-4D97-AF65-F5344CB8AC3E}">
        <p14:creationId xmlns:p14="http://schemas.microsoft.com/office/powerpoint/2010/main" val="27506107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5760</TotalTime>
  <Words>1338</Words>
  <Application>Microsoft Macintosh PowerPoint</Application>
  <PresentationFormat>Widescreen</PresentationFormat>
  <Paragraphs>95</Paragraphs>
  <Slides>19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-apple-system</vt:lpstr>
      <vt:lpstr>Aptos</vt:lpstr>
      <vt:lpstr>Aptos Display</vt:lpstr>
      <vt:lpstr>Arial</vt:lpstr>
      <vt:lpstr>Cambria Math</vt:lpstr>
      <vt:lpstr>Office Theme</vt:lpstr>
      <vt:lpstr>Mechanistic Interpretability</vt:lpstr>
      <vt:lpstr>Motivation </vt:lpstr>
      <vt:lpstr>Table of Contents</vt:lpstr>
      <vt:lpstr>XAI</vt:lpstr>
      <vt:lpstr>Explainable AI (XAI) 3 Axes</vt:lpstr>
      <vt:lpstr>Mechanictic Interpretability (Anthropic)</vt:lpstr>
      <vt:lpstr>Toy Transformer Model – Mechanistic Interpretability</vt:lpstr>
      <vt:lpstr>Evidence</vt:lpstr>
      <vt:lpstr>Periodic Structure and the Embedding/Unembedding matrices</vt:lpstr>
      <vt:lpstr>Embedding and Unembedding Matrices</vt:lpstr>
      <vt:lpstr>Mechanistic Evidence</vt:lpstr>
      <vt:lpstr>A Mathematical Framework for Transformers</vt:lpstr>
      <vt:lpstr>Table of Contents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EFECAN BAHCIVANOGLU</dc:creator>
  <cp:lastModifiedBy>EFECAN BAHCIVANOGLU</cp:lastModifiedBy>
  <cp:revision>1</cp:revision>
  <dcterms:created xsi:type="dcterms:W3CDTF">2025-11-29T12:27:52Z</dcterms:created>
  <dcterms:modified xsi:type="dcterms:W3CDTF">2025-12-03T12:28:47Z</dcterms:modified>
</cp:coreProperties>
</file>